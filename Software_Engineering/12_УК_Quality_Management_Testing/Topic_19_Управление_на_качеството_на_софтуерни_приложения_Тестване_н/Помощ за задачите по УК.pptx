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35" roundtripDataSignature="AMtx7mhGRIxcL3PQ3WWMRRbWanrNLKlA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49414B-A27C-4E68-BFB2-31EB690092A0}">
  <a:tblStyle styleId="{1749414B-A27C-4E68-BFB2-31EB690092A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148FC478-F809-403A-BCF1-F1A855CD090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E8E8"/>
          </a:solidFill>
        </a:fill>
      </a:tcStyle>
    </a:wholeTbl>
    <a:band1H>
      <a:tcTxStyle/>
      <a:tcStyle>
        <a:fill>
          <a:solidFill>
            <a:srgbClr val="E8CFCF"/>
          </a:solidFill>
        </a:fill>
      </a:tcStyle>
    </a:band1H>
    <a:band2H>
      <a:tcTxStyle/>
    </a:band2H>
    <a:band1V>
      <a:tcTxStyle/>
      <a:tcStyle>
        <a:fill>
          <a:solidFill>
            <a:srgbClr val="E8CFC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bg-BG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4cd1dd03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4cd1dd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254cd1dd03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467544" y="5085185"/>
            <a:ext cx="7772400" cy="6480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115616" y="5805264"/>
            <a:ext cx="6696744" cy="476672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1" sz="24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" type="body"/>
          </p:nvPr>
        </p:nvSpPr>
        <p:spPr>
          <a:xfrm>
            <a:off x="722313" y="4005064"/>
            <a:ext cx="7772400" cy="401836"/>
          </a:xfrm>
          <a:prstGeom prst="rect">
            <a:avLst/>
          </a:prstGeom>
          <a:solidFill>
            <a:srgbClr val="A8BB8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908720"/>
            <a:ext cx="8229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  <a:defRPr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▪"/>
              <a:defRPr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✔"/>
              <a:defRPr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idx="1" type="body"/>
          </p:nvPr>
        </p:nvSpPr>
        <p:spPr>
          <a:xfrm>
            <a:off x="3563888" y="260648"/>
            <a:ext cx="5122912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  <a:defRPr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▪"/>
              <a:defRPr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✔"/>
              <a:defRPr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•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type="title"/>
          </p:nvPr>
        </p:nvSpPr>
        <p:spPr>
          <a:xfrm>
            <a:off x="457200" y="273050"/>
            <a:ext cx="3008313" cy="63567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2" type="body"/>
          </p:nvPr>
        </p:nvSpPr>
        <p:spPr>
          <a:xfrm>
            <a:off x="457200" y="1052736"/>
            <a:ext cx="3008313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" name="Google Shape;31;p32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76923C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76923C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76923C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" type="body"/>
          </p:nvPr>
        </p:nvSpPr>
        <p:spPr>
          <a:xfrm>
            <a:off x="457200" y="908720"/>
            <a:ext cx="4038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✔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2" type="body"/>
          </p:nvPr>
        </p:nvSpPr>
        <p:spPr>
          <a:xfrm>
            <a:off x="4648200" y="908720"/>
            <a:ext cx="4038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❖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✔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33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34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5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1" type="body"/>
          </p:nvPr>
        </p:nvSpPr>
        <p:spPr>
          <a:xfrm>
            <a:off x="1792288" y="5367338"/>
            <a:ext cx="5486400" cy="94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37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8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 txBox="1"/>
          <p:nvPr>
            <p:ph idx="1" type="body"/>
          </p:nvPr>
        </p:nvSpPr>
        <p:spPr>
          <a:xfrm rot="5400000">
            <a:off x="1871700" y="-505780"/>
            <a:ext cx="5400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 rot="5400000">
            <a:off x="4676763" y="2227275"/>
            <a:ext cx="5962674" cy="2057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485763" y="246075"/>
            <a:ext cx="596267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57200" y="908720"/>
            <a:ext cx="8229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ctrTitle"/>
          </p:nvPr>
        </p:nvSpPr>
        <p:spPr>
          <a:xfrm>
            <a:off x="467544" y="5085185"/>
            <a:ext cx="7772400" cy="64807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bg-BG" sz="2000"/>
              <a:t>ТЕСТВАНЕ - ПРИМЕРИ</a:t>
            </a:r>
            <a:endParaRPr/>
          </a:p>
        </p:txBody>
      </p:sp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115616" y="5805264"/>
            <a:ext cx="6696744" cy="476672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bg-BG"/>
              <a:t>доц. д-р Десислава Петрова-Антонова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bg-BG"/>
              <a:t>ТЕСТВАНЕ ПО ДВОЙКИ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722313" y="4005064"/>
            <a:ext cx="7772400" cy="401836"/>
          </a:xfrm>
          <a:prstGeom prst="rect">
            <a:avLst/>
          </a:prstGeom>
          <a:solidFill>
            <a:srgbClr val="A8BB8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Ортогонален масив</a:t>
            </a:r>
            <a:endParaRPr/>
          </a:p>
        </p:txBody>
      </p:sp>
      <p:sp>
        <p:nvSpPr>
          <p:cNvPr id="96" name="Google Shape;96;p3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97" name="Google Shape;97;p3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457200" y="980728"/>
            <a:ext cx="8229600" cy="1656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Пример: ортогонален масив</a:t>
            </a:r>
            <a:endParaRPr/>
          </a:p>
          <a:p>
            <a:pPr indent="-285750" lvl="1" marL="742950" rtl="0" algn="l">
              <a:spcBef>
                <a:spcPts val="34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Масив с размерност 4 x 3 и елементите със стойности 1 или 2</a:t>
            </a:r>
            <a:endParaRPr/>
          </a:p>
          <a:p>
            <a:pPr indent="-285750" lvl="1" marL="742950" rtl="0" algn="l">
              <a:spcBef>
                <a:spcPts val="34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Налице са всички възможни комбинации на стойностите на двойки елементи</a:t>
            </a:r>
            <a:endParaRPr/>
          </a:p>
          <a:p>
            <a:pPr indent="-285750" lvl="1" marL="742950" rtl="0" algn="l">
              <a:spcBef>
                <a:spcPts val="34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От 8 възможни комбинации на стойностите на всички елементи са налице само 4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467544" y="4725144"/>
            <a:ext cx="8229600" cy="1512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🞂"/>
            </a:pPr>
            <a:r>
              <a:rPr b="0" i="0" lang="bg-BG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Обозначаване на ортогонален масив</a:t>
            </a:r>
            <a:endParaRPr/>
          </a:p>
          <a:p>
            <a:pPr indent="-274319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Noto Sans Symbols"/>
              <a:buChar char="🞂"/>
            </a:pP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Runs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(Levels</a:t>
            </a:r>
            <a:r>
              <a:rPr b="0" baseline="30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Factors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74319" lvl="2" marL="1005839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Noto Sans Symbols"/>
              <a:buChar char="🞂"/>
            </a:pP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Изпълнения (Runs): Брой на редовете в масива</a:t>
            </a:r>
            <a:endParaRPr/>
          </a:p>
          <a:p>
            <a:pPr indent="-274319" lvl="2" marL="1005839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Noto Sans Symbols"/>
              <a:buChar char="🞂"/>
            </a:pP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Нива (Levels): Брой на възможните стойности на елементите в масива</a:t>
            </a:r>
            <a:endParaRPr/>
          </a:p>
          <a:p>
            <a:pPr indent="-274319" lvl="2" marL="1005839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Noto Sans Symbols"/>
              <a:buChar char="🞂"/>
            </a:pP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Фактори (Factors): Брой на колоните в масива</a:t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3"/>
          <p:cNvGraphicFramePr/>
          <p:nvPr/>
        </p:nvGraphicFramePr>
        <p:xfrm>
          <a:off x="2676544" y="2636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{1749414B-A27C-4E68-BFB2-31EB690092A0}</a:tableStyleId>
              </a:tblPr>
              <a:tblGrid>
                <a:gridCol w="649950"/>
                <a:gridCol w="413600"/>
                <a:gridCol w="449000"/>
                <a:gridCol w="382900"/>
              </a:tblGrid>
              <a:tr h="29225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 u="none" cap="none" strike="noStrike"/>
                        <a:t>L</a:t>
                      </a:r>
                      <a:r>
                        <a:rPr baseline="-25000" lang="bg-BG" sz="1400" u="none" cap="none" strike="noStrike"/>
                        <a:t>4</a:t>
                      </a:r>
                      <a:r>
                        <a:rPr lang="bg-BG" sz="1400" u="none" cap="none" strike="noStrike"/>
                        <a:t>(2</a:t>
                      </a:r>
                      <a:r>
                        <a:rPr baseline="30000" lang="bg-BG" sz="1400" u="none" cap="none" strike="noStrike"/>
                        <a:t>3</a:t>
                      </a:r>
                      <a:r>
                        <a:rPr lang="bg-BG" sz="1400" u="none" cap="none" strike="noStrike"/>
                        <a:t>)</a:t>
                      </a:r>
                      <a:endParaRPr sz="1400" u="none" cap="none" strike="noStrike"/>
                    </a:p>
                  </a:txBody>
                  <a:tcPr marT="45725" marB="45725" marR="91450" marL="91450" anchor="b"/>
                </a:tc>
                <a:tc hMerge="1"/>
                <a:tc hMerge="1"/>
                <a:tc hMerge="1"/>
              </a:tr>
              <a:tr h="292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b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 u="none" cap="none" strike="noStrike"/>
                        <a:t>Factors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</a:tr>
              <a:tr h="292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 u="none" cap="none" strike="noStrike"/>
                        <a:t>Runs</a:t>
                      </a:r>
                      <a:endParaRPr sz="1400" u="none" cap="none" strike="noStrike"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</a:tr>
              <a:tr h="29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3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5580112" y="3212976"/>
            <a:ext cx="2247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bg-BG" sz="1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(1,1), (1,2), (2,1), (2,2)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5580111" y="3614336"/>
            <a:ext cx="792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(2,2,2)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Често използвани ортогонални масиви</a:t>
            </a:r>
            <a:endParaRPr/>
          </a:p>
        </p:txBody>
      </p:sp>
      <p:sp>
        <p:nvSpPr>
          <p:cNvPr id="109" name="Google Shape;109;p4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110" name="Google Shape;110;p4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graphicFrame>
        <p:nvGraphicFramePr>
          <p:cNvPr id="111" name="Google Shape;111;p4"/>
          <p:cNvGraphicFramePr/>
          <p:nvPr/>
        </p:nvGraphicFramePr>
        <p:xfrm>
          <a:off x="1187624" y="10252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{1749414B-A27C-4E68-BFB2-31EB690092A0}</a:tableStyleId>
              </a:tblPr>
              <a:tblGrid>
                <a:gridCol w="648075"/>
                <a:gridCol w="1008100"/>
                <a:gridCol w="1152125"/>
                <a:gridCol w="1080125"/>
                <a:gridCol w="936100"/>
                <a:gridCol w="936100"/>
                <a:gridCol w="936100"/>
              </a:tblGrid>
              <a:tr h="15240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Масив</a:t>
                      </a:r>
                      <a:endParaRPr/>
                    </a:p>
                  </a:txBody>
                  <a:tcPr marT="45725" marB="45725" marR="91450" marL="91450" anchor="ctr"/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Изпълнения</a:t>
                      </a:r>
                      <a:endParaRPr/>
                    </a:p>
                  </a:txBody>
                  <a:tcPr marT="45725" marB="45725" marR="91450" marL="91450" anchor="ctr"/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Максимален брой фактори</a:t>
                      </a:r>
                      <a:endParaRPr/>
                    </a:p>
                  </a:txBody>
                  <a:tcPr marT="45725" marB="45725" marR="91450" marL="91450" anchor="ctr"/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Максимален брой на колоните при определени Levels</a:t>
                      </a:r>
                      <a:endParaRPr sz="1200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</a:tr>
              <a:tr h="1524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4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5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4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8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9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12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16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16</a:t>
                      </a:r>
                      <a:r>
                        <a:rPr baseline="30000" lang="bg-BG" sz="1100"/>
                        <a:t>’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18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25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27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27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32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32</a:t>
                      </a:r>
                      <a:r>
                        <a:rPr baseline="30000" lang="bg-BG" sz="1100"/>
                        <a:t>’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36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36</a:t>
                      </a:r>
                      <a:r>
                        <a:rPr baseline="30000" lang="bg-BG" sz="1100"/>
                        <a:t>’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50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54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54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26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64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64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63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63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64</a:t>
                      </a:r>
                      <a:r>
                        <a:rPr baseline="30000" lang="bg-BG" sz="1100"/>
                        <a:t>’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64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21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21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L</a:t>
                      </a:r>
                      <a:r>
                        <a:rPr baseline="-25000" lang="bg-BG" sz="1100"/>
                        <a:t>81</a:t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81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1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2" name="Google Shape;112;p4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bg-BG"/>
              <a:t>Tехника за тестване с ортогонален масив</a:t>
            </a:r>
            <a:endParaRPr/>
          </a:p>
        </p:txBody>
      </p:sp>
      <p:sp>
        <p:nvSpPr>
          <p:cNvPr id="118" name="Google Shape;118;p5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980728"/>
            <a:ext cx="8229600" cy="288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Свойства на техниката за тестване с ортогонален масив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Гарантирано тестване на двойки комбинации от всички избрани променливи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Генериране на по-малък брой тестови сценарии в сравнение с подхода за тестване на всички възможни комбинации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Генериране на тестов пакет с равномерно разпределение на двойките комбинации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Възможност за автоматизиране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Пример</a:t>
            </a:r>
            <a:endParaRPr/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5726589" y="40317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{1749414B-A27C-4E68-BFB2-31EB690092A0}</a:tableStyleId>
              </a:tblPr>
              <a:tblGrid>
                <a:gridCol w="1149675"/>
                <a:gridCol w="648075"/>
                <a:gridCol w="403150"/>
                <a:gridCol w="460950"/>
              </a:tblGrid>
              <a:tr h="26745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L</a:t>
                      </a:r>
                      <a:r>
                        <a:rPr baseline="-25000" lang="bg-BG" sz="1400"/>
                        <a:t>4</a:t>
                      </a:r>
                      <a:r>
                        <a:rPr lang="bg-BG" sz="1400"/>
                        <a:t>(2</a:t>
                      </a:r>
                      <a:r>
                        <a:rPr baseline="30000" lang="bg-BG" sz="1400"/>
                        <a:t>3</a:t>
                      </a:r>
                      <a:r>
                        <a:rPr lang="bg-BG" sz="1400"/>
                        <a:t>)</a:t>
                      </a:r>
                      <a:endParaRPr sz="1400"/>
                    </a:p>
                  </a:txBody>
                  <a:tcPr marT="45725" marB="45725" marR="91450" marL="91450" anchor="b"/>
                </a:tc>
                <a:tc hMerge="1"/>
                <a:tc hMerge="1"/>
                <a:tc hMerge="1"/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 anchor="b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Фактори</a:t>
                      </a:r>
                      <a:endParaRPr sz="1400"/>
                    </a:p>
                  </a:txBody>
                  <a:tcPr marT="45725" marB="45725" marR="91450" marL="91450"/>
                </a:tc>
                <a:tc hMerge="1"/>
                <a:tc hMerge="1"/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Изпълнения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True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0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Q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True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5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R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False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0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R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False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5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Q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pSp>
        <p:nvGrpSpPr>
          <p:cNvPr id="122" name="Google Shape;122;p5"/>
          <p:cNvGrpSpPr/>
          <p:nvPr/>
        </p:nvGrpSpPr>
        <p:grpSpPr>
          <a:xfrm>
            <a:off x="3421819" y="4221088"/>
            <a:ext cx="1870261" cy="1479649"/>
            <a:chOff x="1397956" y="4541639"/>
            <a:chExt cx="1870261" cy="1479649"/>
          </a:xfrm>
        </p:grpSpPr>
        <p:sp>
          <p:nvSpPr>
            <p:cNvPr id="123" name="Google Shape;123;p5"/>
            <p:cNvSpPr/>
            <p:nvPr/>
          </p:nvSpPr>
          <p:spPr>
            <a:xfrm>
              <a:off x="1691680" y="5445224"/>
              <a:ext cx="1512168" cy="57606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Система S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4" name="Google Shape;124;p5"/>
            <p:cNvCxnSpPr/>
            <p:nvPr/>
          </p:nvCxnSpPr>
          <p:spPr>
            <a:xfrm>
              <a:off x="1907704" y="5085184"/>
              <a:ext cx="0" cy="360040"/>
            </a:xfrm>
            <a:prstGeom prst="straightConnector1">
              <a:avLst/>
            </a:prstGeom>
            <a:noFill/>
            <a:ln cap="flat" cmpd="sng" w="1587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483768" y="5085184"/>
              <a:ext cx="0" cy="360040"/>
            </a:xfrm>
            <a:prstGeom prst="straightConnector1">
              <a:avLst/>
            </a:prstGeom>
            <a:noFill/>
            <a:ln cap="flat" cmpd="sng" w="1587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2987824" y="5085184"/>
              <a:ext cx="0" cy="360040"/>
            </a:xfrm>
            <a:prstGeom prst="straightConnector1">
              <a:avLst/>
            </a:prstGeom>
            <a:noFill/>
            <a:ln cap="flat" cmpd="sng" w="1587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7" name="Google Shape;127;p5"/>
            <p:cNvSpPr txBox="1"/>
            <p:nvPr/>
          </p:nvSpPr>
          <p:spPr>
            <a:xfrm>
              <a:off x="1763688" y="4746630"/>
              <a:ext cx="28725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5"/>
            <p:cNvSpPr txBox="1"/>
            <p:nvPr/>
          </p:nvSpPr>
          <p:spPr>
            <a:xfrm>
              <a:off x="2339752" y="4746630"/>
              <a:ext cx="27443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5"/>
            <p:cNvSpPr txBox="1"/>
            <p:nvPr/>
          </p:nvSpPr>
          <p:spPr>
            <a:xfrm>
              <a:off x="2862214" y="4746630"/>
              <a:ext cx="26962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1397956" y="4541639"/>
              <a:ext cx="94179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{True, False}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 txBox="1"/>
            <p:nvPr/>
          </p:nvSpPr>
          <p:spPr>
            <a:xfrm>
              <a:off x="2195736" y="4541639"/>
              <a:ext cx="50270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{0, 5}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 txBox="1"/>
            <p:nvPr/>
          </p:nvSpPr>
          <p:spPr>
            <a:xfrm>
              <a:off x="2699792" y="4541639"/>
              <a:ext cx="5684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{Q, R}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33" name="Google Shape;133;p5"/>
          <p:cNvGraphicFramePr/>
          <p:nvPr/>
        </p:nvGraphicFramePr>
        <p:xfrm>
          <a:off x="683569" y="40317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{1749414B-A27C-4E68-BFB2-31EB690092A0}</a:tableStyleId>
              </a:tblPr>
              <a:tblGrid>
                <a:gridCol w="792100"/>
                <a:gridCol w="504050"/>
                <a:gridCol w="547175"/>
                <a:gridCol w="460950"/>
              </a:tblGrid>
              <a:tr h="26745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L</a:t>
                      </a:r>
                      <a:r>
                        <a:rPr baseline="-25000" lang="bg-BG" sz="1400"/>
                        <a:t>4</a:t>
                      </a:r>
                      <a:r>
                        <a:rPr lang="bg-BG" sz="1400"/>
                        <a:t>(2</a:t>
                      </a:r>
                      <a:r>
                        <a:rPr baseline="30000" lang="bg-BG" sz="1400"/>
                        <a:t>3</a:t>
                      </a:r>
                      <a:r>
                        <a:rPr lang="bg-BG" sz="1400"/>
                        <a:t>)</a:t>
                      </a:r>
                      <a:endParaRPr sz="1400"/>
                    </a:p>
                  </a:txBody>
                  <a:tcPr marT="45725" marB="45725" marR="91450" marL="91450" anchor="b"/>
                </a:tc>
                <a:tc hMerge="1"/>
                <a:tc hMerge="1"/>
                <a:tc hMerge="1"/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 anchor="b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Factors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Runs</a:t>
                      </a:r>
                      <a:endParaRPr sz="1400"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6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5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509885" y="5816297"/>
            <a:ext cx="192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bg-BG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Runs</a:t>
            </a:r>
            <a:r>
              <a:rPr lang="bg-BG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(Levels</a:t>
            </a:r>
            <a:r>
              <a:rPr baseline="30000" lang="bg-BG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Factors</a:t>
            </a:r>
            <a:r>
              <a:rPr lang="bg-BG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Стъпки за генериране на ортогонален масив</a:t>
            </a:r>
            <a:endParaRPr/>
          </a:p>
        </p:txBody>
      </p:sp>
      <p:sp>
        <p:nvSpPr>
          <p:cNvPr id="141" name="Google Shape;141;p6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142" name="Google Shape;142;p6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457200" y="908720"/>
            <a:ext cx="8229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1: </a:t>
            </a:r>
            <a:r>
              <a:rPr lang="bg-BG"/>
              <a:t>Определя се максималният брой независими входни променливи, с които ще се тества системата (Factors)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2:</a:t>
            </a:r>
            <a:r>
              <a:rPr lang="bg-BG"/>
              <a:t> Определя се максималният брой стойности, които всяка независима променлива може да приеме (Levels)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3:</a:t>
            </a:r>
            <a:r>
              <a:rPr lang="bg-BG"/>
              <a:t> Избира се подходящ ортогонален масив с възможно най-малък брой изпълнения (Runs)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4:</a:t>
            </a:r>
            <a:r>
              <a:rPr lang="bg-BG"/>
              <a:t> Променливите се асоциират с факторите, а стойностите за всяка променлива с нивата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5:</a:t>
            </a:r>
            <a:r>
              <a:rPr lang="bg-BG"/>
              <a:t> Запълват се неасоциирани нива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6:</a:t>
            </a:r>
            <a:r>
              <a:rPr lang="bg-BG"/>
              <a:t> Редовете на масива се трансформират в тестови сценарии</a:t>
            </a:r>
            <a:endParaRPr/>
          </a:p>
        </p:txBody>
      </p:sp>
      <p:sp>
        <p:nvSpPr>
          <p:cNvPr id="144" name="Google Shape;144;p6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bg-BG"/>
              <a:t>КЛАСОВЕ НА ЕКВИВАЛЕНТНОСТ И ГРАНИЧНИ СТОЙНОСТИ</a:t>
            </a:r>
            <a:endParaRPr/>
          </a:p>
        </p:txBody>
      </p:sp>
      <p:sp>
        <p:nvSpPr>
          <p:cNvPr id="150" name="Google Shape;150;p7"/>
          <p:cNvSpPr txBox="1"/>
          <p:nvPr>
            <p:ph idx="1" type="body"/>
          </p:nvPr>
        </p:nvSpPr>
        <p:spPr>
          <a:xfrm>
            <a:off x="722313" y="4005064"/>
            <a:ext cx="7772400" cy="401836"/>
          </a:xfrm>
          <a:prstGeom prst="rect">
            <a:avLst/>
          </a:prstGeom>
          <a:solidFill>
            <a:srgbClr val="A8BB8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457200" y="274638"/>
            <a:ext cx="8229600" cy="490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Банкови спестовни сметки</a:t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457200" y="908720"/>
            <a:ext cx="8229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Спестовни сметки в банка с различни лихвени проценти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bg-BG"/>
              <a:t>Валидни класове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0 $ – 100 $: 3%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100 $ - 1000 $: 5%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Над 1000 $: 7%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bg-BG"/>
              <a:t>Невалидни класове (обикновено липсват в спецификацията)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Въвеждане на отрицателни стойности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Въвеждане на нечислени стойности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bg-BG"/>
              <a:t>Допускания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Числените стойности са точност до втория знак след десетичната запетая (100.00 $)</a:t>
            </a:r>
            <a:endParaRPr/>
          </a:p>
        </p:txBody>
      </p:sp>
      <p:sp>
        <p:nvSpPr>
          <p:cNvPr id="157" name="Google Shape;157;p8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158" name="Google Shape;158;p8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Банкови спестовни сметки</a:t>
            </a:r>
            <a:endParaRPr/>
          </a:p>
        </p:txBody>
      </p:sp>
      <p:sp>
        <p:nvSpPr>
          <p:cNvPr id="165" name="Google Shape;165;p9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166" name="Google Shape;166;p9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167" name="Google Shape;167;p9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graphicFrame>
        <p:nvGraphicFramePr>
          <p:cNvPr id="168" name="Google Shape;168;p9"/>
          <p:cNvGraphicFramePr/>
          <p:nvPr/>
        </p:nvGraphicFramePr>
        <p:xfrm>
          <a:off x="611561" y="3425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966975"/>
                <a:gridCol w="688425"/>
                <a:gridCol w="688425"/>
                <a:gridCol w="826125"/>
                <a:gridCol w="826125"/>
                <a:gridCol w="826125"/>
                <a:gridCol w="1282025"/>
                <a:gridCol w="232500"/>
              </a:tblGrid>
              <a:tr h="4331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Невалиден клас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Валиден клас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(3%)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bg-BG" sz="1400"/>
                        <a:t>Валиден клас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bg-BG" sz="1400"/>
                        <a:t>(5%)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bg-BG" sz="1400"/>
                        <a:t>Валиден клас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bg-BG" sz="1400"/>
                        <a:t>(7%)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25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>
                    <a:lnR cap="flat" cmpd="sng" w="12700">
                      <a:solidFill>
                        <a:srgbClr val="D6E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-0.01$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E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0.00 $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rgbClr val="D6E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100.00 $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E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100.01 $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rgbClr val="D6E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999.99 $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E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1000.00 $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rgbClr val="D6E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D6E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54800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Входни тестови данни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293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-10.00 $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50.00 $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260.00 $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1348.00 $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254800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Изходни данни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293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Съобщение за грешка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3%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5%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7%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</a:tr>
            </a:tbl>
          </a:graphicData>
        </a:graphic>
      </p:graphicFrame>
      <p:grpSp>
        <p:nvGrpSpPr>
          <p:cNvPr id="169" name="Google Shape;169;p9"/>
          <p:cNvGrpSpPr/>
          <p:nvPr/>
        </p:nvGrpSpPr>
        <p:grpSpPr>
          <a:xfrm>
            <a:off x="1161050" y="1136093"/>
            <a:ext cx="1588979" cy="1793276"/>
            <a:chOff x="405474" y="11349"/>
            <a:chExt cx="1588979" cy="1793276"/>
          </a:xfrm>
        </p:grpSpPr>
        <p:sp>
          <p:nvSpPr>
            <p:cNvPr id="170" name="Google Shape;170;p9"/>
            <p:cNvSpPr/>
            <p:nvPr/>
          </p:nvSpPr>
          <p:spPr>
            <a:xfrm>
              <a:off x="465628" y="73774"/>
              <a:ext cx="1464130" cy="508473"/>
            </a:xfrm>
            <a:prstGeom prst="ellipse">
              <a:avLst/>
            </a:prstGeom>
            <a:solidFill>
              <a:srgbClr val="E1C1C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1058090" y="1318852"/>
              <a:ext cx="283746" cy="181597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E7CFC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518972" y="1464130"/>
              <a:ext cx="1361982" cy="340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9"/>
            <p:cNvSpPr txBox="1"/>
            <p:nvPr/>
          </p:nvSpPr>
          <p:spPr>
            <a:xfrm>
              <a:off x="518972" y="1464130"/>
              <a:ext cx="1361982" cy="340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bg-BG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Лихвени проценти</a:t>
              </a: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997936" y="621517"/>
              <a:ext cx="510743" cy="510743"/>
            </a:xfrm>
            <a:prstGeom prst="ellipse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9"/>
            <p:cNvSpPr txBox="1"/>
            <p:nvPr/>
          </p:nvSpPr>
          <p:spPr>
            <a:xfrm>
              <a:off x="1072733" y="696314"/>
              <a:ext cx="361149" cy="361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lang="bg-BG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7% : Над 1000 $</a:t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632471" y="238346"/>
              <a:ext cx="510743" cy="510743"/>
            </a:xfrm>
            <a:prstGeom prst="ellipse">
              <a:avLst/>
            </a:prstGeom>
            <a:solidFill>
              <a:srgbClr val="BB995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9"/>
            <p:cNvSpPr txBox="1"/>
            <p:nvPr/>
          </p:nvSpPr>
          <p:spPr>
            <a:xfrm>
              <a:off x="707268" y="313143"/>
              <a:ext cx="361149" cy="361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lang="bg-BG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5% : 100 $ - 1000 $</a:t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1154564" y="114860"/>
              <a:ext cx="510743" cy="510743"/>
            </a:xfrm>
            <a:prstGeom prst="ellipse">
              <a:avLst/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9"/>
            <p:cNvSpPr txBox="1"/>
            <p:nvPr/>
          </p:nvSpPr>
          <p:spPr>
            <a:xfrm>
              <a:off x="1229361" y="189657"/>
              <a:ext cx="361149" cy="361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lang="bg-BG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3% : 0 $ - 100 $</a:t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05474" y="11349"/>
              <a:ext cx="1588979" cy="1271183"/>
            </a:xfrm>
            <a:custGeom>
              <a:rect b="b" l="l" r="r" t="t"/>
              <a:pathLst>
                <a:path extrusionOk="0" h="120000" w="120000">
                  <a:moveTo>
                    <a:pt x="584" y="34175"/>
                  </a:moveTo>
                  <a:lnTo>
                    <a:pt x="584" y="34175"/>
                  </a:lnTo>
                  <a:cubicBezTo>
                    <a:pt x="-2679" y="22567"/>
                    <a:pt x="7879" y="11072"/>
                    <a:pt x="27615" y="4745"/>
                  </a:cubicBezTo>
                  <a:cubicBezTo>
                    <a:pt x="47351" y="-1582"/>
                    <a:pt x="72649" y="-1582"/>
                    <a:pt x="92385" y="4745"/>
                  </a:cubicBezTo>
                  <a:cubicBezTo>
                    <a:pt x="112121" y="11072"/>
                    <a:pt x="122679" y="22567"/>
                    <a:pt x="119416" y="34175"/>
                  </a:cubicBezTo>
                  <a:lnTo>
                    <a:pt x="74854" y="113544"/>
                  </a:lnTo>
                  <a:cubicBezTo>
                    <a:pt x="73813" y="117246"/>
                    <a:pt x="67478" y="120000"/>
                    <a:pt x="60000" y="120000"/>
                  </a:cubicBezTo>
                  <a:cubicBezTo>
                    <a:pt x="52522" y="120000"/>
                    <a:pt x="46187" y="117246"/>
                    <a:pt x="45146" y="113544"/>
                  </a:cubicBezTo>
                  <a:close/>
                  <a:moveTo>
                    <a:pt x="4800" y="30000"/>
                  </a:moveTo>
                  <a:lnTo>
                    <a:pt x="4800" y="30000"/>
                  </a:lnTo>
                  <a:cubicBezTo>
                    <a:pt x="4800" y="43255"/>
                    <a:pt x="29514" y="54000"/>
                    <a:pt x="60000" y="54000"/>
                  </a:cubicBezTo>
                  <a:cubicBezTo>
                    <a:pt x="90486" y="54000"/>
                    <a:pt x="115200" y="43255"/>
                    <a:pt x="115200" y="30000"/>
                  </a:cubicBezTo>
                  <a:cubicBezTo>
                    <a:pt x="115200" y="16745"/>
                    <a:pt x="90486" y="6000"/>
                    <a:pt x="60000" y="6000"/>
                  </a:cubicBezTo>
                  <a:cubicBezTo>
                    <a:pt x="29514" y="6000"/>
                    <a:pt x="4800" y="16745"/>
                    <a:pt x="4800" y="30000"/>
                  </a:cubicBez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 cap="flat" cmpd="sng" w="9525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81" name="Google Shape;181;p9"/>
          <p:cNvGraphicFramePr/>
          <p:nvPr/>
        </p:nvGraphicFramePr>
        <p:xfrm>
          <a:off x="3275857" y="1556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1920225"/>
                <a:gridCol w="1464150"/>
                <a:gridCol w="1512175"/>
              </a:tblGrid>
              <a:tr h="43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Критерии</a:t>
                      </a:r>
                      <a:r>
                        <a:rPr lang="bg-BG" sz="1400"/>
                        <a:t> са сравнение</a:t>
                      </a:r>
                      <a:endParaRPr sz="1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bg-BG" sz="1400"/>
                        <a:t>Класове</a:t>
                      </a:r>
                      <a:r>
                        <a:rPr lang="bg-BG" sz="1400"/>
                        <a:t> на еквивалентност</a:t>
                      </a:r>
                      <a:endParaRPr sz="1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“Наивен” подход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Брой тествани класове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45720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45720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Брой тестове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45720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45720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 u="none" cap="none" strike="noStrike"/>
                        <a:t>16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82" name="Google Shape;182;p9"/>
          <p:cNvGraphicFramePr/>
          <p:nvPr/>
        </p:nvGraphicFramePr>
        <p:xfrm>
          <a:off x="7092280" y="3425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1368150"/>
              </a:tblGrid>
              <a:tr h="29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400"/>
                        <a:t>Входни тестови данни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34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50.00</a:t>
                      </a:r>
                      <a:r>
                        <a:rPr lang="bg-BG" sz="1200"/>
                        <a:t>  $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13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bg-BG" sz="1200"/>
                        <a:t>100.00</a:t>
                      </a:r>
                      <a:r>
                        <a:rPr lang="bg-BG" sz="1200"/>
                        <a:t>  $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134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150.00 $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34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200.00 $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34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...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34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800.00 $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83" name="Google Shape;183;p9"/>
          <p:cNvCxnSpPr/>
          <p:nvPr/>
        </p:nvCxnSpPr>
        <p:spPr>
          <a:xfrm flipH="1">
            <a:off x="611560" y="2636912"/>
            <a:ext cx="4608512" cy="79208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4" name="Google Shape;184;p9"/>
          <p:cNvCxnSpPr/>
          <p:nvPr/>
        </p:nvCxnSpPr>
        <p:spPr>
          <a:xfrm flipH="1" rot="-5400000">
            <a:off x="6408204" y="2888940"/>
            <a:ext cx="792088" cy="28803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5" name="Google Shape;185;p9"/>
          <p:cNvCxnSpPr/>
          <p:nvPr/>
        </p:nvCxnSpPr>
        <p:spPr>
          <a:xfrm flipH="1" rot="-5400000">
            <a:off x="6480212" y="2816932"/>
            <a:ext cx="792088" cy="43204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6" name="Google Shape;186;p9"/>
          <p:cNvCxnSpPr/>
          <p:nvPr/>
        </p:nvCxnSpPr>
        <p:spPr>
          <a:xfrm flipH="1" rot="-5400000">
            <a:off x="7920372" y="2888940"/>
            <a:ext cx="792088" cy="28803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bg-BG"/>
              <a:t>ТАБЛИЦА НА РЕШЕНИЯТА</a:t>
            </a:r>
            <a:endParaRPr/>
          </a:p>
        </p:txBody>
      </p:sp>
      <p:sp>
        <p:nvSpPr>
          <p:cNvPr id="192" name="Google Shape;192;p10"/>
          <p:cNvSpPr txBox="1"/>
          <p:nvPr>
            <p:ph idx="1" type="body"/>
          </p:nvPr>
        </p:nvSpPr>
        <p:spPr>
          <a:xfrm>
            <a:off x="722313" y="4005064"/>
            <a:ext cx="7772400" cy="401836"/>
          </a:xfrm>
          <a:prstGeom prst="rect">
            <a:avLst/>
          </a:prstGeom>
          <a:solidFill>
            <a:srgbClr val="A8BB8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Последователност при създаване на тестове</a:t>
            </a:r>
            <a:endParaRPr/>
          </a:p>
        </p:txBody>
      </p:sp>
      <p:sp>
        <p:nvSpPr>
          <p:cNvPr id="198" name="Google Shape;198;p11"/>
          <p:cNvSpPr txBox="1"/>
          <p:nvPr>
            <p:ph idx="1" type="body"/>
          </p:nvPr>
        </p:nvSpPr>
        <p:spPr>
          <a:xfrm>
            <a:off x="457200" y="908720"/>
            <a:ext cx="8229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Идентифициране на подходяща функционалност или подсистема с поведение, реагиращо на комбинация от входове или събития.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Идентифицират се възможните условия.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Идентифицират се комбинациите от True/False на условията.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Идентифицира се правилният резултат (действие) за всяка комбинация.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За всяка комбинация се създават тестови сценарии.</a:t>
            </a:r>
            <a:endParaRPr/>
          </a:p>
        </p:txBody>
      </p:sp>
      <p:sp>
        <p:nvSpPr>
          <p:cNvPr id="199" name="Google Shape;199;p11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200" name="Google Shape;200;p11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201" name="Google Shape;201;p11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54cd1dd03d_0_0"/>
          <p:cNvSpPr txBox="1"/>
          <p:nvPr>
            <p:ph type="title"/>
          </p:nvPr>
        </p:nvSpPr>
        <p:spPr>
          <a:xfrm>
            <a:off x="457200" y="274638"/>
            <a:ext cx="8229600" cy="49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254cd1dd03d_0_0"/>
          <p:cNvSpPr txBox="1"/>
          <p:nvPr>
            <p:ph idx="1" type="body"/>
          </p:nvPr>
        </p:nvSpPr>
        <p:spPr>
          <a:xfrm>
            <a:off x="457200" y="908720"/>
            <a:ext cx="8229600" cy="54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54cd1dd03d_0_0"/>
          <p:cNvSpPr txBox="1"/>
          <p:nvPr>
            <p:ph idx="12" type="sldNum"/>
          </p:nvPr>
        </p:nvSpPr>
        <p:spPr>
          <a:xfrm>
            <a:off x="7596336" y="6453336"/>
            <a:ext cx="1090500" cy="26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Дефиниране на таблица на решенията</a:t>
            </a:r>
            <a:endParaRPr/>
          </a:p>
        </p:txBody>
      </p:sp>
      <p:sp>
        <p:nvSpPr>
          <p:cNvPr id="215" name="Google Shape;215;p12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216" name="Google Shape;216;p12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217" name="Google Shape;217;p12"/>
          <p:cNvSpPr txBox="1"/>
          <p:nvPr>
            <p:ph idx="1" type="body"/>
          </p:nvPr>
        </p:nvSpPr>
        <p:spPr>
          <a:xfrm>
            <a:off x="457200" y="980728"/>
            <a:ext cx="8229600" cy="28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Условия: C</a:t>
            </a:r>
            <a:r>
              <a:rPr baseline="-25000" lang="bg-BG"/>
              <a:t>1</a:t>
            </a:r>
            <a:r>
              <a:rPr lang="bg-BG"/>
              <a:t>, C</a:t>
            </a:r>
            <a:r>
              <a:rPr baseline="-25000" lang="bg-BG"/>
              <a:t>2</a:t>
            </a:r>
            <a:r>
              <a:rPr lang="bg-BG"/>
              <a:t>, C</a:t>
            </a:r>
            <a:r>
              <a:rPr baseline="-25000" lang="bg-BG"/>
              <a:t>3</a:t>
            </a:r>
            <a:endParaRPr/>
          </a:p>
          <a:p>
            <a:pPr indent="-342900" lvl="0" marL="342900" rtl="0" algn="l">
              <a:spcBef>
                <a:spcPts val="372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Следствия: Е</a:t>
            </a:r>
            <a:r>
              <a:rPr baseline="-25000" lang="bg-BG"/>
              <a:t>1</a:t>
            </a:r>
            <a:r>
              <a:rPr lang="bg-BG"/>
              <a:t>, Е</a:t>
            </a:r>
            <a:r>
              <a:rPr baseline="-25000" lang="bg-BG"/>
              <a:t>2</a:t>
            </a:r>
            <a:r>
              <a:rPr lang="bg-BG"/>
              <a:t>, Е</a:t>
            </a:r>
            <a:r>
              <a:rPr baseline="-25000" lang="bg-BG"/>
              <a:t>3</a:t>
            </a:r>
            <a:endParaRPr/>
          </a:p>
          <a:p>
            <a:pPr indent="-342900" lvl="0" marL="342900" rtl="0" algn="l">
              <a:spcBef>
                <a:spcPts val="372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Възможни стойности при решаване на предикатите от условията: Y, N, _</a:t>
            </a:r>
            <a:endParaRPr/>
          </a:p>
          <a:p>
            <a:pPr indent="-342900" lvl="0" marL="342900" rtl="0" algn="l">
              <a:spcBef>
                <a:spcPts val="372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Правила: R</a:t>
            </a:r>
            <a:r>
              <a:rPr baseline="-25000" lang="bg-BG"/>
              <a:t>1</a:t>
            </a:r>
            <a:r>
              <a:rPr lang="bg-BG"/>
              <a:t> ÷ R</a:t>
            </a:r>
            <a:r>
              <a:rPr baseline="-25000" lang="bg-BG"/>
              <a:t>8</a:t>
            </a:r>
            <a:endParaRPr/>
          </a:p>
          <a:p>
            <a:pPr indent="-285750" lvl="1" marL="742950" rtl="0" algn="l">
              <a:spcBef>
                <a:spcPts val="31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Представят възможните комбинации на условията и следствията от изпълнението им</a:t>
            </a:r>
            <a:endParaRPr/>
          </a:p>
          <a:p>
            <a:pPr indent="-285750" lvl="1" marL="742950" rtl="0" algn="l">
              <a:spcBef>
                <a:spcPts val="31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За всяко правило посредством индекс се задава и последователността на възникване на следствията</a:t>
            </a:r>
            <a:endParaRPr/>
          </a:p>
          <a:p>
            <a:pPr indent="-342900" lvl="0" marL="342900" rtl="0" algn="l">
              <a:spcBef>
                <a:spcPts val="372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Чек-сума</a:t>
            </a:r>
            <a:endParaRPr/>
          </a:p>
          <a:p>
            <a:pPr indent="-285750" lvl="1" marL="742950" rtl="0" algn="l">
              <a:spcBef>
                <a:spcPts val="31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Използва се за верификация на комбинациите, които таблицата на решенията представя</a:t>
            </a:r>
            <a:endParaRPr/>
          </a:p>
        </p:txBody>
      </p:sp>
      <p:graphicFrame>
        <p:nvGraphicFramePr>
          <p:cNvPr id="218" name="Google Shape;218;p12"/>
          <p:cNvGraphicFramePr/>
          <p:nvPr/>
        </p:nvGraphicFramePr>
        <p:xfrm>
          <a:off x="1403648" y="3789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{1749414B-A27C-4E68-BFB2-31EB690092A0}</a:tableStyleId>
              </a:tblPr>
              <a:tblGrid>
                <a:gridCol w="771850"/>
                <a:gridCol w="77025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Правила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000"/>
                        <a:t>Условия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000"/>
                        <a:t>Стойности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R</a:t>
                      </a:r>
                      <a:r>
                        <a:rPr baseline="-25000" lang="bg-BG" sz="1000"/>
                        <a:t>1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R</a:t>
                      </a:r>
                      <a:r>
                        <a:rPr baseline="-25000" lang="bg-BG" sz="1000"/>
                        <a:t>2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R</a:t>
                      </a:r>
                      <a:r>
                        <a:rPr baseline="-25000" lang="bg-BG" sz="1000"/>
                        <a:t>3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R</a:t>
                      </a:r>
                      <a:r>
                        <a:rPr baseline="-25000" lang="bg-BG" sz="1000"/>
                        <a:t>4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R</a:t>
                      </a:r>
                      <a:r>
                        <a:rPr baseline="-25000" lang="bg-BG" sz="1000"/>
                        <a:t>5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R</a:t>
                      </a:r>
                      <a:r>
                        <a:rPr baseline="-25000" lang="bg-BG" sz="1000"/>
                        <a:t>6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R</a:t>
                      </a:r>
                      <a:r>
                        <a:rPr baseline="-25000" lang="bg-BG" sz="1000"/>
                        <a:t>7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R</a:t>
                      </a:r>
                      <a:r>
                        <a:rPr baseline="-25000" lang="bg-BG" sz="1000"/>
                        <a:t>8</a:t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C</a:t>
                      </a:r>
                      <a:r>
                        <a:rPr baseline="-25000" lang="bg-BG" sz="1000"/>
                        <a:t>1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Y,</a:t>
                      </a:r>
                      <a:r>
                        <a:rPr lang="bg-BG" sz="1000"/>
                        <a:t> N, _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C</a:t>
                      </a:r>
                      <a:r>
                        <a:rPr baseline="-25000" lang="bg-BG" sz="1000"/>
                        <a:t>2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bg-BG" sz="1000"/>
                        <a:t>Y,</a:t>
                      </a:r>
                      <a:r>
                        <a:rPr lang="bg-BG" sz="1000"/>
                        <a:t> N, _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C</a:t>
                      </a:r>
                      <a:r>
                        <a:rPr baseline="-25000" lang="bg-BG" sz="1000"/>
                        <a:t>3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bg-BG" sz="1000"/>
                        <a:t>Y,</a:t>
                      </a:r>
                      <a:r>
                        <a:rPr lang="bg-BG" sz="1000"/>
                        <a:t> N, _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Y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N</a:t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000"/>
                        <a:t>Следствия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E</a:t>
                      </a:r>
                      <a:r>
                        <a:rPr baseline="-25000" lang="bg-BG" sz="1000"/>
                        <a:t>1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E</a:t>
                      </a:r>
                      <a:r>
                        <a:rPr baseline="-25000" lang="bg-BG" sz="1000"/>
                        <a:t>2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E</a:t>
                      </a:r>
                      <a:r>
                        <a:rPr baseline="-25000" lang="bg-BG" sz="1000"/>
                        <a:t>3</a:t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000"/>
                        <a:t>Чек-сума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0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9" name="Google Shape;219;p12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Отпускане на кредити</a:t>
            </a:r>
            <a:endParaRPr/>
          </a:p>
        </p:txBody>
      </p:sp>
      <p:sp>
        <p:nvSpPr>
          <p:cNvPr id="225" name="Google Shape;225;p13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226" name="Google Shape;226;p13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227" name="Google Shape;227;p13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graphicFrame>
        <p:nvGraphicFramePr>
          <p:cNvPr id="228" name="Google Shape;228;p13"/>
          <p:cNvGraphicFramePr/>
          <p:nvPr/>
        </p:nvGraphicFramePr>
        <p:xfrm>
          <a:off x="899592" y="1517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2357000"/>
                <a:gridCol w="1179050"/>
                <a:gridCol w="1310050"/>
                <a:gridCol w="1244550"/>
                <a:gridCol w="1326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Условия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Размер на месечната вноската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Продължителност на кредита в години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29" name="Google Shape;229;p13"/>
          <p:cNvSpPr txBox="1"/>
          <p:nvPr/>
        </p:nvSpPr>
        <p:spPr>
          <a:xfrm>
            <a:off x="827584" y="1085136"/>
            <a:ext cx="53131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Стъпка 1: Идентифицират се възможните условия. </a:t>
            </a:r>
            <a:endParaRPr/>
          </a:p>
        </p:txBody>
      </p:sp>
      <p:graphicFrame>
        <p:nvGraphicFramePr>
          <p:cNvPr id="230" name="Google Shape;230;p13"/>
          <p:cNvGraphicFramePr/>
          <p:nvPr/>
        </p:nvGraphicFramePr>
        <p:xfrm>
          <a:off x="971600" y="3645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2357000"/>
                <a:gridCol w="1179050"/>
                <a:gridCol w="1310050"/>
                <a:gridCol w="1244550"/>
                <a:gridCol w="1326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Условия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Размер на месечната вноската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Продължителност на кредита в години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31" name="Google Shape;231;p13"/>
          <p:cNvSpPr txBox="1"/>
          <p:nvPr/>
        </p:nvSpPr>
        <p:spPr>
          <a:xfrm>
            <a:off x="899592" y="3212976"/>
            <a:ext cx="72389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Стъпка 2: Идентифицират се комбинациите от True/False на условията.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237" name="Google Shape;237;p14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238" name="Google Shape;238;p14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239" name="Google Shape;239;p14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Отпускане на кредити</a:t>
            </a:r>
            <a:endParaRPr/>
          </a:p>
        </p:txBody>
      </p:sp>
      <p:graphicFrame>
        <p:nvGraphicFramePr>
          <p:cNvPr id="240" name="Google Shape;240;p14"/>
          <p:cNvGraphicFramePr/>
          <p:nvPr/>
        </p:nvGraphicFramePr>
        <p:xfrm>
          <a:off x="512064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2357000"/>
                <a:gridCol w="1179050"/>
                <a:gridCol w="1310050"/>
                <a:gridCol w="1244550"/>
                <a:gridCol w="1326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Условия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Размер на месечната вноската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Продължителност на кредита в години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600">
                          <a:solidFill>
                            <a:schemeClr val="lt1"/>
                          </a:solidFill>
                        </a:rPr>
                        <a:t>Резултати/Действия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Обработка на размера на кредита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Обработка на срока на кредита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41" name="Google Shape;241;p14"/>
          <p:cNvSpPr txBox="1"/>
          <p:nvPr/>
        </p:nvSpPr>
        <p:spPr>
          <a:xfrm>
            <a:off x="440056" y="1196752"/>
            <a:ext cx="84548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Стъпка 3: Идентифицира се правилният резултат (действие) за всяка комбинация.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4"/>
          <p:cNvCxnSpPr/>
          <p:nvPr/>
        </p:nvCxnSpPr>
        <p:spPr>
          <a:xfrm rot="10800000">
            <a:off x="3608408" y="4653138"/>
            <a:ext cx="2520280" cy="108011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3" name="Google Shape;243;p14"/>
          <p:cNvSpPr txBox="1"/>
          <p:nvPr/>
        </p:nvSpPr>
        <p:spPr>
          <a:xfrm rot="1397007">
            <a:off x="4101662" y="4836275"/>
            <a:ext cx="22672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Допуска се въвеждане и на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двата входни параметъра</a:t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3248368" y="3645024"/>
            <a:ext cx="432048" cy="936104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Отпускане на кредити</a:t>
            </a:r>
            <a:endParaRPr/>
          </a:p>
        </p:txBody>
      </p:sp>
      <p:sp>
        <p:nvSpPr>
          <p:cNvPr id="250" name="Google Shape;250;p15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251" name="Google Shape;251;p15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252" name="Google Shape;252;p15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graphicFrame>
        <p:nvGraphicFramePr>
          <p:cNvPr id="253" name="Google Shape;253;p15"/>
          <p:cNvGraphicFramePr/>
          <p:nvPr/>
        </p:nvGraphicFramePr>
        <p:xfrm>
          <a:off x="498352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2357000"/>
                <a:gridCol w="1179050"/>
                <a:gridCol w="1310050"/>
                <a:gridCol w="1244550"/>
                <a:gridCol w="1326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Условия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Размер на месечната вноската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Продължителност на кредита в години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600">
                          <a:solidFill>
                            <a:schemeClr val="lt1"/>
                          </a:solidFill>
                        </a:rPr>
                        <a:t>Резултати/Действия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Обработка на размера на кредита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Обработка на срока на кредита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Съобщение за грешка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4" name="Google Shape;254;p15"/>
          <p:cNvSpPr txBox="1"/>
          <p:nvPr/>
        </p:nvSpPr>
        <p:spPr>
          <a:xfrm>
            <a:off x="426344" y="1196752"/>
            <a:ext cx="83683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Стъпка 3а: Идентифицират се липсващите в спецификацията резултати/действия.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498352" y="4653136"/>
            <a:ext cx="2088232" cy="432048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5"/>
          <p:cNvCxnSpPr/>
          <p:nvPr/>
        </p:nvCxnSpPr>
        <p:spPr>
          <a:xfrm rot="10800000">
            <a:off x="1938512" y="5157192"/>
            <a:ext cx="2160240" cy="79208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7" name="Google Shape;257;p15"/>
          <p:cNvSpPr txBox="1"/>
          <p:nvPr/>
        </p:nvSpPr>
        <p:spPr>
          <a:xfrm rot="1185716">
            <a:off x="2087980" y="5284296"/>
            <a:ext cx="21665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Липсва в спецификацията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Отпускане на кредити</a:t>
            </a:r>
            <a:endParaRPr/>
          </a:p>
        </p:txBody>
      </p:sp>
      <p:sp>
        <p:nvSpPr>
          <p:cNvPr id="263" name="Google Shape;263;p16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264" name="Google Shape;264;p16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265" name="Google Shape;265;p16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graphicFrame>
        <p:nvGraphicFramePr>
          <p:cNvPr id="266" name="Google Shape;266;p16"/>
          <p:cNvGraphicFramePr/>
          <p:nvPr/>
        </p:nvGraphicFramePr>
        <p:xfrm>
          <a:off x="516624" y="16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2357000"/>
                <a:gridCol w="1179050"/>
                <a:gridCol w="1310050"/>
                <a:gridCol w="1244550"/>
                <a:gridCol w="1326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Условия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Размер на месечната вноската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Продължителност на кредита в години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600">
                          <a:solidFill>
                            <a:schemeClr val="lt1"/>
                          </a:solidFill>
                        </a:rPr>
                        <a:t>Резултати/Действия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Обработка на размера на кредита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Обработка на срока на кредита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Съобщение за грешка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Y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67" name="Google Shape;267;p16"/>
          <p:cNvSpPr txBox="1"/>
          <p:nvPr/>
        </p:nvSpPr>
        <p:spPr>
          <a:xfrm>
            <a:off x="444616" y="1196752"/>
            <a:ext cx="84548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Стъпка 4: Идентифицира се правилният резултат (действие) за всяка комбинация.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6"/>
          <p:cNvCxnSpPr/>
          <p:nvPr/>
        </p:nvCxnSpPr>
        <p:spPr>
          <a:xfrm rot="10800000">
            <a:off x="3684976" y="5085184"/>
            <a:ext cx="2304256" cy="864096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9" name="Google Shape;269;p16"/>
          <p:cNvSpPr txBox="1"/>
          <p:nvPr/>
        </p:nvSpPr>
        <p:spPr>
          <a:xfrm rot="1240397">
            <a:off x="3845474" y="5052300"/>
            <a:ext cx="23567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 се допуска въвеждане на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двата входни параметъра</a:t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3252928" y="4653136"/>
            <a:ext cx="432048" cy="432048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Отпускане на кредити</a:t>
            </a:r>
            <a:endParaRPr/>
          </a:p>
        </p:txBody>
      </p:sp>
      <p:sp>
        <p:nvSpPr>
          <p:cNvPr id="276" name="Google Shape;276;p17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277" name="Google Shape;277;p17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278" name="Google Shape;278;p17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graphicFrame>
        <p:nvGraphicFramePr>
          <p:cNvPr id="279" name="Google Shape;279;p17"/>
          <p:cNvGraphicFramePr/>
          <p:nvPr/>
        </p:nvGraphicFramePr>
        <p:xfrm>
          <a:off x="467544" y="17008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2088225"/>
                <a:gridCol w="1440150"/>
                <a:gridCol w="1584175"/>
                <a:gridCol w="1458050"/>
                <a:gridCol w="1429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Условия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Правило 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Размер на месечната вноската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Продължителност на кредита в години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F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37085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600">
                          <a:solidFill>
                            <a:schemeClr val="lt1"/>
                          </a:solidFill>
                        </a:rPr>
                        <a:t>Резултати/Действия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Резултат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bg-BG" sz="1600"/>
                        <a:t>Съобщение за грешка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600"/>
                        <a:t>Обработка на размера на кредита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bg-BG" sz="1600"/>
                        <a:t>Обработка на срока на кредита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bg-BG" sz="1600"/>
                        <a:t>Съобщение за грешка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80" name="Google Shape;280;p17"/>
          <p:cNvSpPr txBox="1"/>
          <p:nvPr/>
        </p:nvSpPr>
        <p:spPr>
          <a:xfrm>
            <a:off x="395536" y="1268760"/>
            <a:ext cx="84548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Стъпка 5: Идентифицира се правилният резултат (действие) за всяка комбинация.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7"/>
          <p:cNvCxnSpPr/>
          <p:nvPr/>
        </p:nvCxnSpPr>
        <p:spPr>
          <a:xfrm rot="10800000">
            <a:off x="1115618" y="4293096"/>
            <a:ext cx="2592286" cy="136815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2" name="Google Shape;282;p17"/>
          <p:cNvSpPr txBox="1"/>
          <p:nvPr/>
        </p:nvSpPr>
        <p:spPr>
          <a:xfrm rot="1696867">
            <a:off x="1662919" y="4666580"/>
            <a:ext cx="24258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всяка комбинация се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съпоставя единичен резултат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Кредитна карта</a:t>
            </a:r>
            <a:endParaRPr/>
          </a:p>
        </p:txBody>
      </p:sp>
      <p:sp>
        <p:nvSpPr>
          <p:cNvPr id="288" name="Google Shape;288;p18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289" name="Google Shape;289;p18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290" name="Google Shape;290;p18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graphicFrame>
        <p:nvGraphicFramePr>
          <p:cNvPr id="291" name="Google Shape;291;p18"/>
          <p:cNvGraphicFramePr/>
          <p:nvPr/>
        </p:nvGraphicFramePr>
        <p:xfrm>
          <a:off x="411583" y="1484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{148FC478-F809-403A-BCF1-F1A855CD0906}</a:tableStyleId>
              </a:tblPr>
              <a:tblGrid>
                <a:gridCol w="1152125"/>
                <a:gridCol w="864100"/>
                <a:gridCol w="936100"/>
                <a:gridCol w="864100"/>
                <a:gridCol w="864100"/>
                <a:gridCol w="864100"/>
                <a:gridCol w="896100"/>
                <a:gridCol w="920100"/>
                <a:gridCol w="920100"/>
              </a:tblGrid>
              <a:tr h="26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Условия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Правило 1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Правило  2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Правило 3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Правило 4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Правило 5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Правило 6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Правило 7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Правило 8</a:t>
                      </a:r>
                      <a:endParaRPr/>
                    </a:p>
                  </a:txBody>
                  <a:tcPr marT="45725" marB="45725" marR="72000" marL="72000" anchor="ctr"/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Нов клиент (15%)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Лоялен клиент (10%)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</a:tr>
              <a:tr h="3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Ваучер</a:t>
                      </a:r>
                      <a:r>
                        <a:rPr lang="bg-BG" sz="1200"/>
                        <a:t> за отстъпка </a:t>
                      </a:r>
                      <a:r>
                        <a:rPr lang="bg-BG" sz="1200"/>
                        <a:t>(20%)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T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F</a:t>
                      </a:r>
                      <a:endParaRPr sz="1200"/>
                    </a:p>
                  </a:txBody>
                  <a:tcPr marT="45725" marB="45725" marR="72000" marL="72000" anchor="ctr"/>
                </a:tc>
              </a:tr>
              <a:tr h="268750">
                <a:tc gridSpan="9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200">
                          <a:solidFill>
                            <a:schemeClr val="lt1"/>
                          </a:solidFill>
                        </a:rPr>
                        <a:t>Действия</a:t>
                      </a:r>
                      <a:endParaRPr/>
                    </a:p>
                  </a:txBody>
                  <a:tcPr marT="45725" marB="45725" marR="72000" marL="72000" anchor="ctr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Отстъпка (%)</a:t>
                      </a:r>
                      <a:endParaRPr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X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X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20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15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30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10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20</a:t>
                      </a:r>
                      <a:endParaRPr sz="1200"/>
                    </a:p>
                  </a:txBody>
                  <a:tcPr marT="45725" marB="45725" marR="72000" marL="72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0</a:t>
                      </a:r>
                      <a:endParaRPr sz="1200"/>
                    </a:p>
                  </a:txBody>
                  <a:tcPr marT="45725" marB="45725" marR="72000" marL="72000" anchor="ctr"/>
                </a:tc>
              </a:tr>
            </a:tbl>
          </a:graphicData>
        </a:graphic>
      </p:graphicFrame>
      <p:sp>
        <p:nvSpPr>
          <p:cNvPr id="292" name="Google Shape;292;p18"/>
          <p:cNvSpPr txBox="1"/>
          <p:nvPr/>
        </p:nvSpPr>
        <p:spPr>
          <a:xfrm flipH="1">
            <a:off x="1059655" y="4725144"/>
            <a:ext cx="7272808" cy="83099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❖"/>
            </a:pPr>
            <a:r>
              <a:rPr lang="bg-BG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Всяка комбинация представлява отделен тест.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❖"/>
            </a:pPr>
            <a:r>
              <a:rPr lang="bg-BG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При голям брой комбинации, комбинациите се приоритизират и се тестват само най-важните от тях.</a:t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1851743" y="3398178"/>
            <a:ext cx="288032" cy="288032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2746661" y="3398178"/>
            <a:ext cx="288032" cy="288032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8"/>
          <p:cNvCxnSpPr/>
          <p:nvPr/>
        </p:nvCxnSpPr>
        <p:spPr>
          <a:xfrm rot="10800000">
            <a:off x="1995759" y="3717032"/>
            <a:ext cx="360040" cy="28803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6" name="Google Shape;296;p18"/>
          <p:cNvSpPr txBox="1"/>
          <p:nvPr/>
        </p:nvSpPr>
        <p:spPr>
          <a:xfrm>
            <a:off x="1779736" y="4005064"/>
            <a:ext cx="14401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Неосъществими комбинации</a:t>
            </a:r>
            <a:endParaRPr/>
          </a:p>
        </p:txBody>
      </p:sp>
      <p:cxnSp>
        <p:nvCxnSpPr>
          <p:cNvPr id="297" name="Google Shape;297;p18"/>
          <p:cNvCxnSpPr/>
          <p:nvPr/>
        </p:nvCxnSpPr>
        <p:spPr>
          <a:xfrm rot="-5400000">
            <a:off x="2571823" y="3717032"/>
            <a:ext cx="288032" cy="28803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8" name="Google Shape;298;p18"/>
          <p:cNvSpPr txBox="1"/>
          <p:nvPr/>
        </p:nvSpPr>
        <p:spPr>
          <a:xfrm>
            <a:off x="3147887" y="4005064"/>
            <a:ext cx="230425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Ваучерът за отстъпка не е валиден заедно с отстъпката за нов клиент</a:t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3651943" y="3408452"/>
            <a:ext cx="288032" cy="288032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8"/>
          <p:cNvCxnSpPr/>
          <p:nvPr/>
        </p:nvCxnSpPr>
        <p:spPr>
          <a:xfrm rot="10800000">
            <a:off x="3796753" y="3717032"/>
            <a:ext cx="359246" cy="28803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Калкулиране на работна заплата</a:t>
            </a:r>
            <a:endParaRPr/>
          </a:p>
        </p:txBody>
      </p:sp>
      <p:sp>
        <p:nvSpPr>
          <p:cNvPr id="306" name="Google Shape;306;p19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307" name="Google Shape;307;p19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308" name="Google Shape;308;p19"/>
          <p:cNvSpPr txBox="1"/>
          <p:nvPr>
            <p:ph idx="1" type="body"/>
          </p:nvPr>
        </p:nvSpPr>
        <p:spPr>
          <a:xfrm>
            <a:off x="457200" y="908720"/>
            <a:ext cx="8229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Консултант, работещ повече от 40 часа на седмица, получава заплащане на час, като първите 40 часа се заплащат регулярно, а следващите над 40 се заплащат двойно.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Консултант, работещ по-малко от 40 часа на седмица, получава заплащане на час като изработените часове се заплащат регулярно и се създава доклад за отсъствие.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Служител на щат, работещ по-малко от 40 часа на седмица, получава заплата и се създава доклад за отсъствие.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Служител на щат, работещ повече от 40 часа на седмица, получава заплата.</a:t>
            </a:r>
            <a:endParaRPr/>
          </a:p>
        </p:txBody>
      </p:sp>
      <p:sp>
        <p:nvSpPr>
          <p:cNvPr id="309" name="Google Shape;309;p19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Тестване с таблица на решенията 1-3</a:t>
            </a:r>
            <a:endParaRPr/>
          </a:p>
        </p:txBody>
      </p:sp>
      <p:sp>
        <p:nvSpPr>
          <p:cNvPr id="315" name="Google Shape;315;p20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316" name="Google Shape;316;p20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317" name="Google Shape;317;p20"/>
          <p:cNvSpPr txBox="1"/>
          <p:nvPr>
            <p:ph idx="1" type="body"/>
          </p:nvPr>
        </p:nvSpPr>
        <p:spPr>
          <a:xfrm>
            <a:off x="457200" y="908720"/>
            <a:ext cx="8229600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1: </a:t>
            </a:r>
            <a:r>
              <a:rPr lang="bg-BG"/>
              <a:t>Идентифицират се следните условия и следствия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C</a:t>
            </a:r>
            <a:r>
              <a:rPr baseline="-25000" lang="bg-BG"/>
              <a:t>1</a:t>
            </a:r>
            <a:r>
              <a:rPr lang="bg-BG"/>
              <a:t>: Служител на щат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C</a:t>
            </a:r>
            <a:r>
              <a:rPr baseline="-25000" lang="bg-BG"/>
              <a:t>2</a:t>
            </a:r>
            <a:r>
              <a:rPr lang="bg-BG"/>
              <a:t>: Работещ по-малко от 40 часа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C</a:t>
            </a:r>
            <a:r>
              <a:rPr baseline="-25000" lang="bg-BG"/>
              <a:t>3</a:t>
            </a:r>
            <a:r>
              <a:rPr lang="bg-BG"/>
              <a:t>: Работещ 40 часа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C</a:t>
            </a:r>
            <a:r>
              <a:rPr baseline="-25000" lang="bg-BG"/>
              <a:t>4</a:t>
            </a:r>
            <a:r>
              <a:rPr lang="bg-BG"/>
              <a:t>: Работещ повече от 40 часа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Е</a:t>
            </a:r>
            <a:r>
              <a:rPr baseline="-25000" lang="bg-BG"/>
              <a:t>1</a:t>
            </a:r>
            <a:r>
              <a:rPr lang="bg-BG"/>
              <a:t>: Изплащане на заплата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Е</a:t>
            </a:r>
            <a:r>
              <a:rPr baseline="-25000" lang="bg-BG"/>
              <a:t>2</a:t>
            </a:r>
            <a:r>
              <a:rPr lang="bg-BG"/>
              <a:t>: Създаване на доклад за отсъствие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Е</a:t>
            </a:r>
            <a:r>
              <a:rPr baseline="-25000" lang="bg-BG"/>
              <a:t>3</a:t>
            </a:r>
            <a:r>
              <a:rPr lang="bg-BG"/>
              <a:t>: Регулярно заплащане на час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Е</a:t>
            </a:r>
            <a:r>
              <a:rPr baseline="-25000" lang="bg-BG"/>
              <a:t>4</a:t>
            </a:r>
            <a:r>
              <a:rPr lang="bg-BG"/>
              <a:t>: Двойно заплащане на час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2:</a:t>
            </a:r>
            <a:r>
              <a:rPr lang="bg-BG"/>
              <a:t> Условията и следствията се изброяват в таблица на решенията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3:</a:t>
            </a:r>
            <a:r>
              <a:rPr lang="bg-BG"/>
              <a:t> Броят на комбинациите е 2</a:t>
            </a:r>
            <a:r>
              <a:rPr baseline="30000" lang="bg-BG"/>
              <a:t>4</a:t>
            </a:r>
            <a:r>
              <a:rPr lang="bg-BG"/>
              <a:t> = 16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4:</a:t>
            </a:r>
            <a:r>
              <a:rPr lang="bg-BG"/>
              <a:t> Колоните на таблицата се попълват като се има предвид, че </a:t>
            </a:r>
            <a:r>
              <a:rPr lang="bg-BG">
                <a:latin typeface="Calibri"/>
                <a:ea typeface="Calibri"/>
                <a:cs typeface="Calibri"/>
                <a:sym typeface="Calibri"/>
              </a:rPr>
              <a:t>RF</a:t>
            </a:r>
            <a:r>
              <a:rPr baseline="-25000" lang="bg-BG"/>
              <a:t>1</a:t>
            </a:r>
            <a:r>
              <a:rPr lang="bg-BG"/>
              <a:t> = 16/2 = 8, </a:t>
            </a:r>
            <a:r>
              <a:rPr lang="bg-BG">
                <a:latin typeface="Calibri"/>
                <a:ea typeface="Calibri"/>
                <a:cs typeface="Calibri"/>
                <a:sym typeface="Calibri"/>
              </a:rPr>
              <a:t>RF</a:t>
            </a:r>
            <a:r>
              <a:rPr baseline="-25000" lang="bg-BG"/>
              <a:t>2</a:t>
            </a:r>
            <a:r>
              <a:rPr lang="bg-BG"/>
              <a:t> = 8/2 = 4, </a:t>
            </a:r>
            <a:r>
              <a:rPr lang="bg-BG">
                <a:latin typeface="Calibri"/>
                <a:ea typeface="Calibri"/>
                <a:cs typeface="Calibri"/>
                <a:sym typeface="Calibri"/>
              </a:rPr>
              <a:t>RF</a:t>
            </a:r>
            <a:r>
              <a:rPr baseline="-25000" lang="bg-BG"/>
              <a:t>3</a:t>
            </a:r>
            <a:r>
              <a:rPr lang="bg-BG"/>
              <a:t> = 4/2 = 2, </a:t>
            </a:r>
            <a:r>
              <a:rPr lang="bg-BG">
                <a:latin typeface="Calibri"/>
                <a:ea typeface="Calibri"/>
                <a:cs typeface="Calibri"/>
                <a:sym typeface="Calibri"/>
              </a:rPr>
              <a:t>RF</a:t>
            </a:r>
            <a:r>
              <a:rPr baseline="-25000" lang="bg-BG"/>
              <a:t>1</a:t>
            </a:r>
            <a:r>
              <a:rPr lang="bg-BG"/>
              <a:t> = 2/2 = 1</a:t>
            </a:r>
            <a:endParaRPr/>
          </a:p>
        </p:txBody>
      </p:sp>
      <p:sp>
        <p:nvSpPr>
          <p:cNvPr id="318" name="Google Shape;318;p20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Тестване с таблица на решенията 2-3</a:t>
            </a:r>
            <a:endParaRPr/>
          </a:p>
        </p:txBody>
      </p:sp>
      <p:sp>
        <p:nvSpPr>
          <p:cNvPr id="324" name="Google Shape;324;p21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325" name="Google Shape;325;p21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graphicFrame>
        <p:nvGraphicFramePr>
          <p:cNvPr id="326" name="Google Shape;326;p21"/>
          <p:cNvGraphicFramePr/>
          <p:nvPr/>
        </p:nvGraphicFramePr>
        <p:xfrm>
          <a:off x="778964" y="980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{1749414B-A27C-4E68-BFB2-31EB690092A0}</a:tableStyleId>
              </a:tblPr>
              <a:tblGrid>
                <a:gridCol w="887350"/>
                <a:gridCol w="887600"/>
                <a:gridCol w="309875"/>
                <a:gridCol w="336875"/>
                <a:gridCol w="336875"/>
                <a:gridCol w="336875"/>
                <a:gridCol w="336875"/>
                <a:gridCol w="336875"/>
                <a:gridCol w="336875"/>
                <a:gridCol w="336875"/>
                <a:gridCol w="336875"/>
                <a:gridCol w="373375"/>
                <a:gridCol w="373375"/>
                <a:gridCol w="373375"/>
                <a:gridCol w="373375"/>
                <a:gridCol w="373375"/>
                <a:gridCol w="373375"/>
                <a:gridCol w="373375"/>
              </a:tblGrid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 gridSpan="1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Правила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200"/>
                        <a:t>Условия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200"/>
                        <a:t>Стойности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6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7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8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9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13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C</a:t>
                      </a:r>
                      <a:r>
                        <a:rPr baseline="-25000" lang="bg-BG" sz="1200"/>
                        <a:t>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Y,</a:t>
                      </a:r>
                      <a:r>
                        <a:rPr lang="bg-BG" sz="1200"/>
                        <a:t> 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C</a:t>
                      </a:r>
                      <a:r>
                        <a:rPr baseline="-25000" lang="bg-BG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Y,</a:t>
                      </a:r>
                      <a:r>
                        <a:rPr lang="bg-BG" sz="1200"/>
                        <a:t> 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C</a:t>
                      </a:r>
                      <a:r>
                        <a:rPr baseline="-25000" lang="bg-BG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Y,</a:t>
                      </a:r>
                      <a:r>
                        <a:rPr lang="bg-BG" sz="1200"/>
                        <a:t> 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C</a:t>
                      </a:r>
                      <a:r>
                        <a:rPr baseline="-25000" lang="bg-BG" sz="1200"/>
                        <a:t>4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Y,</a:t>
                      </a:r>
                      <a:r>
                        <a:rPr lang="bg-BG" sz="1200"/>
                        <a:t> 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200"/>
                        <a:t>Следствия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Е</a:t>
                      </a:r>
                      <a:r>
                        <a:rPr baseline="-25000" lang="bg-BG" sz="1200"/>
                        <a:t>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Е</a:t>
                      </a:r>
                      <a:r>
                        <a:rPr baseline="-25000" lang="bg-BG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Е</a:t>
                      </a:r>
                      <a:r>
                        <a:rPr baseline="-25000" lang="bg-BG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Е</a:t>
                      </a:r>
                      <a:r>
                        <a:rPr baseline="-25000" lang="bg-BG" sz="1200"/>
                        <a:t>4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7" name="Google Shape;327;p21"/>
          <p:cNvSpPr txBox="1"/>
          <p:nvPr/>
        </p:nvSpPr>
        <p:spPr>
          <a:xfrm>
            <a:off x="457200" y="4085416"/>
            <a:ext cx="8229600" cy="2151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🞂"/>
            </a:pPr>
            <a:r>
              <a:rPr b="1" i="0" lang="bg-BG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Стъпка 5: </a:t>
            </a:r>
            <a:r>
              <a:rPr b="0" i="0" lang="bg-BG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Редуцират се следните правила</a:t>
            </a:r>
            <a:endParaRPr/>
          </a:p>
          <a:p>
            <a:pPr indent="-27432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Noto Sans Symbols"/>
              <a:buChar char="🞂"/>
            </a:pP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Ако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True и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True, то стойностите на условията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и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нямат значение. Обединяват се правила 1, 2, 3 и 4</a:t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Noto Sans Symbols"/>
              <a:buChar char="🞂"/>
            </a:pP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Ако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True и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False, то стойностите на условията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и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нямат значение. Обединяват се правила 5, 6, 7 и 8</a:t>
            </a:r>
            <a:endParaRPr/>
          </a:p>
          <a:p>
            <a:pPr indent="-27432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Noto Sans Symbols"/>
              <a:buChar char="🞂"/>
            </a:pP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Ако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False и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True, то стойностите на условията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и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нямат значение. Обединяват се правила 9, 10, 11 и 12</a:t>
            </a:r>
            <a:endParaRPr/>
          </a:p>
          <a:p>
            <a:pPr indent="-27432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Noto Sans Symbols"/>
              <a:buChar char="🞂"/>
            </a:pP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Ако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False, 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False и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= True, то стойността на условието C</a:t>
            </a:r>
            <a:r>
              <a:rPr b="0" baseline="-2500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bg-BG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нямат значение. Обединяват се правила 13 и 14</a:t>
            </a:r>
            <a:endParaRPr/>
          </a:p>
        </p:txBody>
      </p:sp>
      <p:sp>
        <p:nvSpPr>
          <p:cNvPr id="328" name="Google Shape;328;p21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Пример: Тестване с таблица на решенията 2-3</a:t>
            </a:r>
            <a:endParaRPr/>
          </a:p>
        </p:txBody>
      </p:sp>
      <p:sp>
        <p:nvSpPr>
          <p:cNvPr id="334" name="Google Shape;334;p22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335" name="Google Shape;335;p22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336" name="Google Shape;336;p22"/>
          <p:cNvSpPr txBox="1"/>
          <p:nvPr>
            <p:ph idx="1" type="body"/>
          </p:nvPr>
        </p:nvSpPr>
        <p:spPr>
          <a:xfrm>
            <a:off x="457200" y="980728"/>
            <a:ext cx="8229600" cy="201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6: </a:t>
            </a:r>
            <a:r>
              <a:rPr lang="bg-BG"/>
              <a:t>Изчисляване на чек-сумата за колоните на таблиците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7:</a:t>
            </a:r>
            <a:r>
              <a:rPr lang="bg-BG"/>
              <a:t> Определяне на следствията от всяко правило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lang="bg-BG"/>
              <a:t>Ако C</a:t>
            </a:r>
            <a:r>
              <a:rPr baseline="-25000" lang="bg-BG"/>
              <a:t>1</a:t>
            </a:r>
            <a:r>
              <a:rPr lang="bg-BG"/>
              <a:t> = True и C</a:t>
            </a:r>
            <a:r>
              <a:rPr baseline="-25000" lang="bg-BG"/>
              <a:t>2</a:t>
            </a:r>
            <a:r>
              <a:rPr lang="bg-BG"/>
              <a:t> = True, то са налице следствия E</a:t>
            </a:r>
            <a:r>
              <a:rPr baseline="-25000" lang="bg-BG"/>
              <a:t>1</a:t>
            </a:r>
            <a:r>
              <a:rPr lang="bg-BG"/>
              <a:t> и E</a:t>
            </a:r>
            <a:r>
              <a:rPr baseline="-25000" lang="bg-BG"/>
              <a:t>2</a:t>
            </a:r>
            <a:r>
              <a:rPr lang="bg-BG"/>
              <a:t>, които се индексират съответно с 1 и 2 според реда на настъпването им.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b="1" lang="bg-BG">
                <a:solidFill>
                  <a:schemeClr val="accent1"/>
                </a:solidFill>
              </a:rPr>
              <a:t>Стъпка 8:</a:t>
            </a:r>
            <a:r>
              <a:rPr lang="bg-BG"/>
              <a:t> Генерират се 6 тестови сценарии, съответстващи на правилата в таблицата</a:t>
            </a:r>
            <a:endParaRPr/>
          </a:p>
        </p:txBody>
      </p:sp>
      <p:graphicFrame>
        <p:nvGraphicFramePr>
          <p:cNvPr id="337" name="Google Shape;337;p22"/>
          <p:cNvGraphicFramePr/>
          <p:nvPr/>
        </p:nvGraphicFramePr>
        <p:xfrm>
          <a:off x="2329027" y="33749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{1749414B-A27C-4E68-BFB2-31EB690092A0}</a:tableStyleId>
              </a:tblPr>
              <a:tblGrid>
                <a:gridCol w="887350"/>
                <a:gridCol w="887600"/>
                <a:gridCol w="309875"/>
                <a:gridCol w="336875"/>
                <a:gridCol w="336875"/>
                <a:gridCol w="373375"/>
                <a:gridCol w="373375"/>
                <a:gridCol w="373375"/>
              </a:tblGrid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Правила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200"/>
                        <a:t>Условия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200"/>
                        <a:t>Стойности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C</a:t>
                      </a:r>
                      <a:r>
                        <a:rPr baseline="-25000" lang="bg-BG" sz="1200"/>
                        <a:t>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Y,</a:t>
                      </a:r>
                      <a:r>
                        <a:rPr lang="bg-BG" sz="1200"/>
                        <a:t> 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C</a:t>
                      </a:r>
                      <a:r>
                        <a:rPr baseline="-25000" lang="bg-BG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Y,</a:t>
                      </a:r>
                      <a:r>
                        <a:rPr lang="bg-BG" sz="1200"/>
                        <a:t> 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C</a:t>
                      </a:r>
                      <a:r>
                        <a:rPr baseline="-25000" lang="bg-BG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Y,</a:t>
                      </a:r>
                      <a:r>
                        <a:rPr lang="bg-BG" sz="1200"/>
                        <a:t> 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C</a:t>
                      </a:r>
                      <a:r>
                        <a:rPr baseline="-25000" lang="bg-BG" sz="1200"/>
                        <a:t>4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Y,</a:t>
                      </a:r>
                      <a:r>
                        <a:rPr lang="bg-BG" sz="1200"/>
                        <a:t> N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Y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N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200"/>
                        <a:t>Следствия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Е</a:t>
                      </a:r>
                      <a:r>
                        <a:rPr baseline="-25000" lang="bg-BG" sz="1200"/>
                        <a:t>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Е</a:t>
                      </a:r>
                      <a:r>
                        <a:rPr baseline="-25000" lang="bg-BG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Е</a:t>
                      </a:r>
                      <a:r>
                        <a:rPr baseline="-25000" lang="bg-BG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Е</a:t>
                      </a:r>
                      <a:r>
                        <a:rPr baseline="-25000" lang="bg-BG" sz="1200"/>
                        <a:t>4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bg-BG" sz="1200"/>
                        <a:t>Чек-сума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bg-BG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8" name="Google Shape;338;p22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bg-BG"/>
              <a:t>ТЕСТВАНЕ НА УПРАВЛЯВАЩИЯ ПОТОК, ДАННОВИТЕ ЗАВИСИМОСТИ И ВЗАИМОДЕЙСТВИЯТА</a:t>
            </a:r>
            <a:endParaRPr/>
          </a:p>
        </p:txBody>
      </p:sp>
      <p:sp>
        <p:nvSpPr>
          <p:cNvPr id="344" name="Google Shape;344;p23"/>
          <p:cNvSpPr txBox="1"/>
          <p:nvPr>
            <p:ph idx="1" type="body"/>
          </p:nvPr>
        </p:nvSpPr>
        <p:spPr>
          <a:xfrm>
            <a:off x="722313" y="4005064"/>
            <a:ext cx="7772400" cy="401836"/>
          </a:xfrm>
          <a:prstGeom prst="rect">
            <a:avLst/>
          </a:prstGeom>
          <a:solidFill>
            <a:srgbClr val="A8BB8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"/>
          <p:cNvSpPr txBox="1"/>
          <p:nvPr>
            <p:ph idx="1" type="body"/>
          </p:nvPr>
        </p:nvSpPr>
        <p:spPr>
          <a:xfrm>
            <a:off x="3563888" y="260648"/>
            <a:ext cx="5122912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Последователност на конструиране на граф на управляващия поток</a:t>
            </a:r>
            <a:endParaRPr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bg-BG" sz="1900"/>
              <a:t>Асоцииране на </a:t>
            </a:r>
            <a:r>
              <a:rPr lang="bg-BG" sz="1900" u="sng"/>
              <a:t>обработващите възли</a:t>
            </a:r>
            <a:r>
              <a:rPr lang="bg-BG" sz="1900"/>
              <a:t> с изразите за </a:t>
            </a:r>
            <a:r>
              <a:rPr b="1" lang="bg-BG" sz="1900"/>
              <a:t>присвояване, извикване на процедури </a:t>
            </a:r>
            <a:r>
              <a:rPr lang="bg-BG" sz="1900"/>
              <a:t>или</a:t>
            </a:r>
            <a:r>
              <a:rPr b="1" lang="bg-BG" sz="1900"/>
              <a:t> функции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bg-BG" sz="1900"/>
              <a:t>Асоцииране на </a:t>
            </a:r>
            <a:r>
              <a:rPr lang="bg-BG" sz="1900" u="sng"/>
              <a:t>възлите за взимане на решение</a:t>
            </a:r>
            <a:r>
              <a:rPr lang="bg-BG" sz="1900"/>
              <a:t> с изразите за </a:t>
            </a:r>
            <a:r>
              <a:rPr b="1" lang="bg-BG" sz="1900"/>
              <a:t>условен преход </a:t>
            </a:r>
            <a:r>
              <a:rPr lang="bg-BG" sz="1900"/>
              <a:t>“if-then-else” или “if-then”, или </a:t>
            </a:r>
            <a:r>
              <a:rPr b="1" lang="bg-BG" sz="1900"/>
              <a:t>множествено разклонение </a:t>
            </a:r>
            <a:r>
              <a:rPr lang="bg-BG" sz="1900"/>
              <a:t>“switch-case”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bg-BG" sz="1900"/>
              <a:t>Създаване на специален тип възли за разклонение и асоциирането им с </a:t>
            </a:r>
            <a:r>
              <a:rPr b="1" lang="bg-BG" sz="1900"/>
              <a:t>изразите за цикъл</a:t>
            </a:r>
            <a:endParaRPr sz="1900"/>
          </a:p>
          <a:p>
            <a:pPr indent="-279400" lvl="1" marL="74295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bg-BG" sz="1900"/>
              <a:t>Асоцииране на началния и крайния възел на графа с </a:t>
            </a:r>
            <a:r>
              <a:rPr b="1" lang="bg-BG" sz="1900"/>
              <a:t>първия и последния израз в програмата</a:t>
            </a:r>
            <a:endParaRPr sz="1900"/>
          </a:p>
        </p:txBody>
      </p:sp>
      <p:sp>
        <p:nvSpPr>
          <p:cNvPr id="351" name="Google Shape;351;p24"/>
          <p:cNvSpPr txBox="1"/>
          <p:nvPr>
            <p:ph type="title"/>
          </p:nvPr>
        </p:nvSpPr>
        <p:spPr>
          <a:xfrm>
            <a:off x="457200" y="273050"/>
            <a:ext cx="3008313" cy="63567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bg-BG"/>
              <a:t>Граф на управляващия поток</a:t>
            </a:r>
            <a:endParaRPr/>
          </a:p>
        </p:txBody>
      </p:sp>
      <p:sp>
        <p:nvSpPr>
          <p:cNvPr id="352" name="Google Shape;352;p24"/>
          <p:cNvSpPr txBox="1"/>
          <p:nvPr>
            <p:ph idx="2" type="body"/>
          </p:nvPr>
        </p:nvSpPr>
        <p:spPr>
          <a:xfrm>
            <a:off x="457200" y="1340768"/>
            <a:ext cx="3008313" cy="2376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lang="bg-BG">
                <a:solidFill>
                  <a:schemeClr val="accent5"/>
                </a:solidFill>
              </a:rPr>
              <a:t>L1:</a:t>
            </a:r>
            <a:r>
              <a:rPr lang="bg-BG"/>
              <a:t>input(a, b, c)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lang="bg-BG">
                <a:solidFill>
                  <a:schemeClr val="accent5"/>
                </a:solidFill>
              </a:rPr>
              <a:t>L2: </a:t>
            </a:r>
            <a:r>
              <a:rPr lang="bg-BG"/>
              <a:t>d ← b * b – 4 * a * c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</a:pPr>
            <a:r>
              <a:rPr lang="bg-BG">
                <a:solidFill>
                  <a:schemeClr val="accent2"/>
                </a:solidFill>
              </a:rPr>
              <a:t>L3:</a:t>
            </a:r>
            <a:r>
              <a:rPr lang="bg-BG"/>
              <a:t> if (d &gt; 0) then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bg-BG"/>
              <a:t>L4:    r ← 2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</a:pPr>
            <a:r>
              <a:rPr lang="bg-BG">
                <a:solidFill>
                  <a:schemeClr val="accent2"/>
                </a:solidFill>
              </a:rPr>
              <a:t>L5:</a:t>
            </a:r>
            <a:r>
              <a:rPr lang="bg-BG"/>
              <a:t> else if (d = 0) then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bg-BG"/>
              <a:t>L6:    r ← 1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</a:pPr>
            <a:r>
              <a:rPr lang="bg-BG">
                <a:solidFill>
                  <a:schemeClr val="accent2"/>
                </a:solidFill>
              </a:rPr>
              <a:t>L7:</a:t>
            </a:r>
            <a:r>
              <a:rPr lang="bg-BG"/>
              <a:t> else if (d &lt; 0)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bg-BG"/>
              <a:t>L8:    r ← 0;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bg-BG"/>
              <a:t>L9: output(r)</a:t>
            </a:r>
            <a:endParaRPr/>
          </a:p>
        </p:txBody>
      </p:sp>
      <p:sp>
        <p:nvSpPr>
          <p:cNvPr id="353" name="Google Shape;353;p24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76923C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1115616" y="980728"/>
            <a:ext cx="1582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</a:t>
            </a:r>
            <a:r>
              <a:rPr b="1" baseline="30000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bg-BG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+ bx + c = 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" name="Google Shape;355;p24"/>
          <p:cNvGrpSpPr/>
          <p:nvPr/>
        </p:nvGrpSpPr>
        <p:grpSpPr>
          <a:xfrm>
            <a:off x="971600" y="2924944"/>
            <a:ext cx="2592288" cy="3384376"/>
            <a:chOff x="971600" y="3789040"/>
            <a:chExt cx="1800200" cy="2520280"/>
          </a:xfrm>
        </p:grpSpPr>
        <p:sp>
          <p:nvSpPr>
            <p:cNvPr id="356" name="Google Shape;356;p24"/>
            <p:cNvSpPr/>
            <p:nvPr/>
          </p:nvSpPr>
          <p:spPr>
            <a:xfrm>
              <a:off x="1619672" y="378904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L1-2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1619672" y="4293096"/>
              <a:ext cx="504056" cy="288032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d=?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971600" y="486916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L4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2267744" y="486916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L8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4"/>
            <p:cNvSpPr/>
            <p:nvPr/>
          </p:nvSpPr>
          <p:spPr>
            <a:xfrm>
              <a:off x="1619672" y="486916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L6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1619672" y="5445224"/>
              <a:ext cx="504056" cy="288032"/>
            </a:xfrm>
            <a:prstGeom prst="ellipse">
              <a:avLst/>
            </a:prstGeom>
            <a:solidFill>
              <a:schemeClr val="accent6"/>
            </a:solidFill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J1</a:t>
              </a:r>
              <a:endParaRPr/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1619672" y="6021288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L9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3" name="Google Shape;363;p24"/>
            <p:cNvCxnSpPr>
              <a:stCxn id="356" idx="4"/>
              <a:endCxn id="357" idx="0"/>
            </p:cNvCxnSpPr>
            <p:nvPr/>
          </p:nvCxnSpPr>
          <p:spPr>
            <a:xfrm>
              <a:off x="1871700" y="4077072"/>
              <a:ext cx="0" cy="216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4" name="Google Shape;364;p24"/>
            <p:cNvCxnSpPr>
              <a:stCxn id="357" idx="3"/>
              <a:endCxn id="358" idx="0"/>
            </p:cNvCxnSpPr>
            <p:nvPr/>
          </p:nvCxnSpPr>
          <p:spPr>
            <a:xfrm flipH="1">
              <a:off x="1223689" y="4538947"/>
              <a:ext cx="469800" cy="330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5" name="Google Shape;365;p24"/>
            <p:cNvCxnSpPr>
              <a:stCxn id="357" idx="5"/>
              <a:endCxn id="359" idx="0"/>
            </p:cNvCxnSpPr>
            <p:nvPr/>
          </p:nvCxnSpPr>
          <p:spPr>
            <a:xfrm>
              <a:off x="2049911" y="4538947"/>
              <a:ext cx="469800" cy="330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6" name="Google Shape;366;p24"/>
            <p:cNvCxnSpPr>
              <a:stCxn id="358" idx="4"/>
              <a:endCxn id="361" idx="1"/>
            </p:cNvCxnSpPr>
            <p:nvPr/>
          </p:nvCxnSpPr>
          <p:spPr>
            <a:xfrm>
              <a:off x="1223628" y="5157192"/>
              <a:ext cx="469800" cy="330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7" name="Google Shape;367;p24"/>
            <p:cNvCxnSpPr>
              <a:stCxn id="359" idx="4"/>
              <a:endCxn id="361" idx="7"/>
            </p:cNvCxnSpPr>
            <p:nvPr/>
          </p:nvCxnSpPr>
          <p:spPr>
            <a:xfrm flipH="1">
              <a:off x="2049972" y="5157192"/>
              <a:ext cx="469800" cy="330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8" name="Google Shape;368;p24"/>
            <p:cNvCxnSpPr>
              <a:stCxn id="360" idx="4"/>
              <a:endCxn id="361" idx="0"/>
            </p:cNvCxnSpPr>
            <p:nvPr/>
          </p:nvCxnSpPr>
          <p:spPr>
            <a:xfrm>
              <a:off x="1871700" y="5157192"/>
              <a:ext cx="0" cy="288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69" name="Google Shape;369;p24"/>
            <p:cNvCxnSpPr>
              <a:stCxn id="361" idx="4"/>
              <a:endCxn id="362" idx="0"/>
            </p:cNvCxnSpPr>
            <p:nvPr/>
          </p:nvCxnSpPr>
          <p:spPr>
            <a:xfrm>
              <a:off x="1871700" y="5733256"/>
              <a:ext cx="0" cy="288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70" name="Google Shape;370;p24"/>
            <p:cNvCxnSpPr>
              <a:stCxn id="357" idx="4"/>
              <a:endCxn id="360" idx="0"/>
            </p:cNvCxnSpPr>
            <p:nvPr/>
          </p:nvCxnSpPr>
          <p:spPr>
            <a:xfrm>
              <a:off x="1871700" y="4581128"/>
              <a:ext cx="0" cy="288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71" name="Google Shape;371;p24"/>
            <p:cNvSpPr txBox="1"/>
            <p:nvPr/>
          </p:nvSpPr>
          <p:spPr>
            <a:xfrm>
              <a:off x="1232913" y="4514441"/>
              <a:ext cx="306351" cy="21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d&gt;0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4"/>
            <p:cNvSpPr txBox="1"/>
            <p:nvPr/>
          </p:nvSpPr>
          <p:spPr>
            <a:xfrm>
              <a:off x="2173137" y="4488934"/>
              <a:ext cx="306351" cy="21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d&lt;0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4"/>
            <p:cNvSpPr txBox="1"/>
            <p:nvPr/>
          </p:nvSpPr>
          <p:spPr>
            <a:xfrm>
              <a:off x="1587729" y="4627781"/>
              <a:ext cx="306351" cy="21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d=0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24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76923C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375" name="Google Shape;375;p24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76923C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Граф на данновите зависимости: елементи</a:t>
            </a:r>
            <a:endParaRPr/>
          </a:p>
        </p:txBody>
      </p:sp>
      <p:sp>
        <p:nvSpPr>
          <p:cNvPr id="381" name="Google Shape;381;p25"/>
          <p:cNvSpPr txBox="1"/>
          <p:nvPr>
            <p:ph idx="1" type="body"/>
          </p:nvPr>
        </p:nvSpPr>
        <p:spPr>
          <a:xfrm>
            <a:off x="518864" y="908720"/>
            <a:ext cx="8229600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Всеки възел представя дефиниция на даннов елемент </a:t>
            </a:r>
            <a:r>
              <a:rPr i="1" lang="bg-BG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bg-BG"/>
              <a:t>, означена с </a:t>
            </a:r>
            <a:r>
              <a:rPr i="1" lang="bg-BG">
                <a:latin typeface="Times New Roman"/>
                <a:ea typeface="Times New Roman"/>
                <a:cs typeface="Times New Roman"/>
                <a:sym typeface="Times New Roman"/>
              </a:rPr>
              <a:t>D(x)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bg-BG"/>
              <a:t>Изходен възел или възел-резултат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Представя изчислителен резултат в програмата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bg-BG"/>
              <a:t>Входен възел или възел-константа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Представя вход, определен от потребителя или предварително дефинирана константа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bg-BG"/>
              <a:t>Междинни възли или възли за съхранение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SzPts val="1600"/>
              <a:buChar char="✔"/>
            </a:pPr>
            <a:r>
              <a:rPr lang="bg-BG"/>
              <a:t>Улесняват изчислителната процедура, правейки по-лесното получаване на резултат от входа на системата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Всички релации в графа са от тип D-U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❖"/>
            </a:pPr>
            <a:r>
              <a:rPr lang="bg-BG"/>
              <a:t>Селекторен или условен възел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bg-BG"/>
              <a:t>Представя дефиниция за избор или условие върху определен даннов елемент</a:t>
            </a:r>
            <a:endParaRPr/>
          </a:p>
        </p:txBody>
      </p:sp>
      <p:sp>
        <p:nvSpPr>
          <p:cNvPr id="382" name="Google Shape;382;p25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09-11-2018</a:t>
            </a:r>
            <a:endParaRPr/>
          </a:p>
        </p:txBody>
      </p:sp>
      <p:sp>
        <p:nvSpPr>
          <p:cNvPr id="383" name="Google Shape;383;p25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384" name="Google Shape;384;p25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6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bg-BG"/>
              <a:t>Граф на данновите зависимости: пример</a:t>
            </a:r>
            <a:endParaRPr/>
          </a:p>
        </p:txBody>
      </p:sp>
      <p:sp>
        <p:nvSpPr>
          <p:cNvPr id="390" name="Google Shape;390;p26"/>
          <p:cNvSpPr txBox="1"/>
          <p:nvPr>
            <p:ph idx="1" type="body"/>
          </p:nvPr>
        </p:nvSpPr>
        <p:spPr>
          <a:xfrm>
            <a:off x="467544" y="980727"/>
            <a:ext cx="8229600" cy="2334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Всички листа на графа са входни променливи или константи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❖"/>
            </a:pPr>
            <a:r>
              <a:rPr lang="bg-BG"/>
              <a:t>Изчисляване на корените на уравнението</a:t>
            </a:r>
            <a:endParaRPr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bg-BG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baseline="30000" i="1" lang="bg-BG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bg-BG">
                <a:latin typeface="Times New Roman"/>
                <a:ea typeface="Times New Roman"/>
                <a:cs typeface="Times New Roman"/>
                <a:sym typeface="Times New Roman"/>
              </a:rPr>
              <a:t> + bx + c = 0, d = b</a:t>
            </a:r>
            <a:r>
              <a:rPr baseline="30000" i="1" lang="bg-BG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bg-BG">
                <a:latin typeface="Times New Roman"/>
                <a:ea typeface="Times New Roman"/>
                <a:cs typeface="Times New Roman"/>
                <a:sym typeface="Times New Roman"/>
              </a:rPr>
              <a:t> – 4ac 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i="1" lang="bg-BG">
                <a:latin typeface="Times New Roman"/>
                <a:ea typeface="Times New Roman"/>
                <a:cs typeface="Times New Roman"/>
                <a:sym typeface="Times New Roman"/>
              </a:rPr>
              <a:t>(d &gt; 0) ⇒ r ← 2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i="1" lang="bg-BG">
                <a:latin typeface="Times New Roman"/>
                <a:ea typeface="Times New Roman"/>
                <a:cs typeface="Times New Roman"/>
                <a:sym typeface="Times New Roman"/>
              </a:rPr>
              <a:t>(d = 0) ⇒ r ← 1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▪"/>
            </a:pPr>
            <a:r>
              <a:rPr i="1" lang="bg-BG">
                <a:latin typeface="Times New Roman"/>
                <a:ea typeface="Times New Roman"/>
                <a:cs typeface="Times New Roman"/>
                <a:sym typeface="Times New Roman"/>
              </a:rPr>
              <a:t>(d &lt; 0) ⇒ r ← 0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 txBox="1"/>
          <p:nvPr>
            <p:ph idx="10" type="dt"/>
          </p:nvPr>
        </p:nvSpPr>
        <p:spPr>
          <a:xfrm>
            <a:off x="457200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07.05.2019 г.</a:t>
            </a:r>
            <a:endParaRPr/>
          </a:p>
        </p:txBody>
      </p:sp>
      <p:grpSp>
        <p:nvGrpSpPr>
          <p:cNvPr id="392" name="Google Shape;392;p26"/>
          <p:cNvGrpSpPr/>
          <p:nvPr/>
        </p:nvGrpSpPr>
        <p:grpSpPr>
          <a:xfrm>
            <a:off x="1835696" y="3821641"/>
            <a:ext cx="4752528" cy="1584176"/>
            <a:chOff x="899592" y="3789040"/>
            <a:chExt cx="4752528" cy="1584176"/>
          </a:xfrm>
        </p:grpSpPr>
        <p:sp>
          <p:nvSpPr>
            <p:cNvPr id="393" name="Google Shape;393;p26"/>
            <p:cNvSpPr/>
            <p:nvPr/>
          </p:nvSpPr>
          <p:spPr>
            <a:xfrm>
              <a:off x="3707904" y="4437112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5148064" y="4437112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4427984" y="5085184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6" name="Google Shape;396;p26"/>
            <p:cNvCxnSpPr>
              <a:stCxn id="393" idx="4"/>
              <a:endCxn id="395" idx="1"/>
            </p:cNvCxnSpPr>
            <p:nvPr/>
          </p:nvCxnSpPr>
          <p:spPr>
            <a:xfrm>
              <a:off x="3959932" y="4725144"/>
              <a:ext cx="541800" cy="402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97" name="Google Shape;397;p26"/>
            <p:cNvCxnSpPr>
              <a:stCxn id="394" idx="4"/>
              <a:endCxn id="395" idx="7"/>
            </p:cNvCxnSpPr>
            <p:nvPr/>
          </p:nvCxnSpPr>
          <p:spPr>
            <a:xfrm flipH="1">
              <a:off x="4858292" y="4725144"/>
              <a:ext cx="541800" cy="402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98" name="Google Shape;398;p26"/>
            <p:cNvSpPr/>
            <p:nvPr/>
          </p:nvSpPr>
          <p:spPr>
            <a:xfrm>
              <a:off x="4427984" y="4437112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9" name="Google Shape;399;p26"/>
            <p:cNvCxnSpPr>
              <a:stCxn id="398" idx="4"/>
              <a:endCxn id="395" idx="0"/>
            </p:cNvCxnSpPr>
            <p:nvPr/>
          </p:nvCxnSpPr>
          <p:spPr>
            <a:xfrm>
              <a:off x="4680012" y="4725144"/>
              <a:ext cx="0" cy="360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00" name="Google Shape;400;p26"/>
            <p:cNvSpPr/>
            <p:nvPr/>
          </p:nvSpPr>
          <p:spPr>
            <a:xfrm>
              <a:off x="2339752" y="5085184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d?0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1" name="Google Shape;401;p26"/>
            <p:cNvCxnSpPr>
              <a:stCxn id="400" idx="6"/>
              <a:endCxn id="395" idx="2"/>
            </p:cNvCxnSpPr>
            <p:nvPr/>
          </p:nvCxnSpPr>
          <p:spPr>
            <a:xfrm>
              <a:off x="2843808" y="5229200"/>
              <a:ext cx="1584300" cy="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sp>
          <p:nvSpPr>
            <p:cNvPr id="402" name="Google Shape;402;p26"/>
            <p:cNvSpPr txBox="1"/>
            <p:nvPr/>
          </p:nvSpPr>
          <p:spPr>
            <a:xfrm>
              <a:off x="3345763" y="5013176"/>
              <a:ext cx="1010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d&gt;0/d=0/d&lt;0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3707904" y="378904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5148064" y="378904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4427984" y="378904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406" name="Google Shape;406;p26"/>
            <p:cNvCxnSpPr>
              <a:stCxn id="403" idx="4"/>
              <a:endCxn id="393" idx="0"/>
            </p:cNvCxnSpPr>
            <p:nvPr/>
          </p:nvCxnSpPr>
          <p:spPr>
            <a:xfrm>
              <a:off x="3959932" y="4077072"/>
              <a:ext cx="0" cy="360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07" name="Google Shape;407;p26"/>
            <p:cNvCxnSpPr>
              <a:stCxn id="405" idx="4"/>
              <a:endCxn id="398" idx="0"/>
            </p:cNvCxnSpPr>
            <p:nvPr/>
          </p:nvCxnSpPr>
          <p:spPr>
            <a:xfrm>
              <a:off x="4680012" y="4077072"/>
              <a:ext cx="0" cy="360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08" name="Google Shape;408;p26"/>
            <p:cNvCxnSpPr>
              <a:stCxn id="404" idx="4"/>
              <a:endCxn id="394" idx="0"/>
            </p:cNvCxnSpPr>
            <p:nvPr/>
          </p:nvCxnSpPr>
          <p:spPr>
            <a:xfrm>
              <a:off x="5400092" y="4077072"/>
              <a:ext cx="0" cy="360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09" name="Google Shape;409;p26"/>
            <p:cNvCxnSpPr>
              <a:stCxn id="403" idx="3"/>
              <a:endCxn id="400" idx="7"/>
            </p:cNvCxnSpPr>
            <p:nvPr/>
          </p:nvCxnSpPr>
          <p:spPr>
            <a:xfrm flipH="1">
              <a:off x="2770121" y="4034891"/>
              <a:ext cx="1011600" cy="10926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10" name="Google Shape;410;p26"/>
            <p:cNvSpPr/>
            <p:nvPr/>
          </p:nvSpPr>
          <p:spPr>
            <a:xfrm>
              <a:off x="1763688" y="4437112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1" name="Google Shape;411;p26"/>
            <p:cNvCxnSpPr>
              <a:stCxn id="410" idx="4"/>
              <a:endCxn id="400" idx="1"/>
            </p:cNvCxnSpPr>
            <p:nvPr/>
          </p:nvCxnSpPr>
          <p:spPr>
            <a:xfrm>
              <a:off x="2015716" y="4725144"/>
              <a:ext cx="397800" cy="402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12" name="Google Shape;412;p26"/>
            <p:cNvSpPr/>
            <p:nvPr/>
          </p:nvSpPr>
          <p:spPr>
            <a:xfrm>
              <a:off x="2699792" y="378904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899592" y="378904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а</a:t>
              </a: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2123728" y="378904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1475656" y="3789040"/>
              <a:ext cx="504056" cy="288032"/>
            </a:xfrm>
            <a:prstGeom prst="ellipse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36000" spcFirstLastPara="1" rIns="3600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6" name="Google Shape;416;p26"/>
            <p:cNvCxnSpPr>
              <a:stCxn id="413" idx="4"/>
              <a:endCxn id="410" idx="2"/>
            </p:cNvCxnSpPr>
            <p:nvPr/>
          </p:nvCxnSpPr>
          <p:spPr>
            <a:xfrm>
              <a:off x="1151620" y="4077072"/>
              <a:ext cx="612000" cy="504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17" name="Google Shape;417;p26"/>
            <p:cNvCxnSpPr>
              <a:stCxn id="415" idx="4"/>
              <a:endCxn id="410" idx="1"/>
            </p:cNvCxnSpPr>
            <p:nvPr/>
          </p:nvCxnSpPr>
          <p:spPr>
            <a:xfrm>
              <a:off x="1727684" y="4077072"/>
              <a:ext cx="109800" cy="402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18" name="Google Shape;418;p26"/>
            <p:cNvCxnSpPr>
              <a:stCxn id="414" idx="4"/>
              <a:endCxn id="410" idx="7"/>
            </p:cNvCxnSpPr>
            <p:nvPr/>
          </p:nvCxnSpPr>
          <p:spPr>
            <a:xfrm flipH="1">
              <a:off x="2193956" y="4077072"/>
              <a:ext cx="181800" cy="4023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19" name="Google Shape;419;p26"/>
            <p:cNvCxnSpPr>
              <a:stCxn id="412" idx="4"/>
              <a:endCxn id="410" idx="6"/>
            </p:cNvCxnSpPr>
            <p:nvPr/>
          </p:nvCxnSpPr>
          <p:spPr>
            <a:xfrm flipH="1">
              <a:off x="2267820" y="4077072"/>
              <a:ext cx="684000" cy="504000"/>
            </a:xfrm>
            <a:prstGeom prst="straightConnector1">
              <a:avLst/>
            </a:prstGeom>
            <a:noFill/>
            <a:ln cap="flat" cmpd="sng" w="158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420" name="Google Shape;420;p26"/>
          <p:cNvSpPr txBox="1"/>
          <p:nvPr>
            <p:ph idx="11" type="ftr"/>
          </p:nvPr>
        </p:nvSpPr>
        <p:spPr>
          <a:xfrm>
            <a:off x="1619672" y="6453336"/>
            <a:ext cx="5904656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Управление на качеството</a:t>
            </a:r>
            <a:endParaRPr/>
          </a:p>
        </p:txBody>
      </p:sp>
      <p:sp>
        <p:nvSpPr>
          <p:cNvPr id="421" name="Google Shape;421;p26"/>
          <p:cNvSpPr txBox="1"/>
          <p:nvPr>
            <p:ph idx="12" type="sldNum"/>
          </p:nvPr>
        </p:nvSpPr>
        <p:spPr>
          <a:xfrm>
            <a:off x="7596336" y="6453336"/>
            <a:ext cx="1090464" cy="268139"/>
          </a:xfrm>
          <a:prstGeom prst="rect">
            <a:avLst/>
          </a:prstGeom>
          <a:solidFill>
            <a:srgbClr val="A8BB8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://www.premium-seo.co.uk/images/question-mark.png" id="426" name="Google Shape;426;p2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premium-seo.co.uk/images/question-mark.png" id="427" name="Google Shape;42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744" y="1864568"/>
            <a:ext cx="45720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2013-09-11T11:38:58Z</dcterms:created>
  <dc:creator>Dessy</dc:creator>
</cp:coreProperties>
</file>